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1" r:id="rId1"/>
  </p:sldMasterIdLst>
  <p:notesMasterIdLst>
    <p:notesMasterId r:id="rId17"/>
  </p:notesMasterIdLst>
  <p:handoutMasterIdLst>
    <p:handoutMasterId r:id="rId18"/>
  </p:handoutMasterIdLst>
  <p:sldIdLst>
    <p:sldId id="287" r:id="rId2"/>
    <p:sldId id="274" r:id="rId3"/>
    <p:sldId id="285" r:id="rId4"/>
    <p:sldId id="2147483646" r:id="rId5"/>
    <p:sldId id="266" r:id="rId6"/>
    <p:sldId id="2147483647" r:id="rId7"/>
    <p:sldId id="256" r:id="rId8"/>
    <p:sldId id="258" r:id="rId9"/>
    <p:sldId id="259" r:id="rId10"/>
    <p:sldId id="257" r:id="rId11"/>
    <p:sldId id="260" r:id="rId12"/>
    <p:sldId id="261" r:id="rId13"/>
    <p:sldId id="262" r:id="rId14"/>
    <p:sldId id="263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23BE01-57CE-278C-5B18-E730AFF851AB}" name="Rita Jackson" initials="RJ" userId="S::jacksonr@opentext.com::ec52f9e5-cc26-4bba-bf0e-8c6d34784774" providerId="AD"/>
  <p188:author id="{46DEEDAC-944B-8D88-DE6B-7F2270FF7676}" name="Sandy Ono" initials="SO" userId="S::sono@opentext.com::8b3596f6-c0ae-41a1-b17a-a712efe6c6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0FF"/>
    <a:srgbClr val="DDDDDD"/>
    <a:srgbClr val="F5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30A3A-DFBA-5841-A69C-EB31DFE68140}" v="8" dt="2025-06-13T15:38:20.677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13"/>
    <p:restoredTop sz="94651"/>
  </p:normalViewPr>
  <p:slideViewPr>
    <p:cSldViewPr>
      <p:cViewPr varScale="1">
        <p:scale>
          <a:sx n="59" d="100"/>
          <a:sy n="59" d="100"/>
        </p:scale>
        <p:origin x="7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howGuides="1">
      <p:cViewPr varScale="1">
        <p:scale>
          <a:sx n="168" d="100"/>
          <a:sy n="168" d="100"/>
        </p:scale>
        <p:origin x="4688" y="200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1899B8-5C83-47FB-8FF3-4FF06BCD071A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008C1D0-3726-4476-8F6A-E4187C400AE9}">
      <dgm:prSet phldrT="[Text]"/>
      <dgm:spPr/>
      <dgm:t>
        <a:bodyPr/>
        <a:lstStyle/>
        <a:p>
          <a:r>
            <a:rPr lang="en-IN" b="1" dirty="0"/>
            <a:t>Phase 1</a:t>
          </a:r>
        </a:p>
      </dgm:t>
    </dgm:pt>
    <dgm:pt modelId="{53FADA43-DCFB-40B5-8613-AC3C9E47DB60}" type="parTrans" cxnId="{CC0E6C25-C8B1-4118-9AB7-829307F36A6C}">
      <dgm:prSet/>
      <dgm:spPr/>
      <dgm:t>
        <a:bodyPr/>
        <a:lstStyle/>
        <a:p>
          <a:endParaRPr lang="en-IN"/>
        </a:p>
      </dgm:t>
    </dgm:pt>
    <dgm:pt modelId="{034A8E0B-8A1D-4F00-AA76-44986DD23283}" type="sibTrans" cxnId="{CC0E6C25-C8B1-4118-9AB7-829307F36A6C}">
      <dgm:prSet/>
      <dgm:spPr/>
      <dgm:t>
        <a:bodyPr/>
        <a:lstStyle/>
        <a:p>
          <a:endParaRPr lang="en-IN"/>
        </a:p>
      </dgm:t>
    </dgm:pt>
    <dgm:pt modelId="{F22F2B1E-494C-4595-B9E3-FEF52B6E1D1D}">
      <dgm:prSet phldrT="[Text]"/>
      <dgm:spPr/>
      <dgm:t>
        <a:bodyPr/>
        <a:lstStyle/>
        <a:p>
          <a:r>
            <a:rPr lang="en-IN" dirty="0"/>
            <a:t>Plan: Provide </a:t>
          </a:r>
          <a:r>
            <a:rPr lang="en-IN" b="1" dirty="0"/>
            <a:t>basic knowledge </a:t>
          </a:r>
          <a:r>
            <a:rPr lang="en-IN" dirty="0"/>
            <a:t>of AI and OT ODC Aviators through </a:t>
          </a:r>
          <a:r>
            <a:rPr lang="en-IN" b="1" dirty="0"/>
            <a:t>online self learning </a:t>
          </a:r>
          <a:r>
            <a:rPr lang="en-IN" dirty="0"/>
            <a:t>as per recommended curriculum</a:t>
          </a:r>
        </a:p>
      </dgm:t>
    </dgm:pt>
    <dgm:pt modelId="{6565AD58-A314-493B-80D4-80D7FC3912D8}" type="parTrans" cxnId="{82D0E3D8-8075-4C86-BAEC-5232B7B23F5D}">
      <dgm:prSet/>
      <dgm:spPr/>
      <dgm:t>
        <a:bodyPr/>
        <a:lstStyle/>
        <a:p>
          <a:endParaRPr lang="en-IN"/>
        </a:p>
      </dgm:t>
    </dgm:pt>
    <dgm:pt modelId="{DD0444A7-827D-46A5-8ABE-FB62FB224CE3}" type="sibTrans" cxnId="{82D0E3D8-8075-4C86-BAEC-5232B7B23F5D}">
      <dgm:prSet/>
      <dgm:spPr/>
      <dgm:t>
        <a:bodyPr/>
        <a:lstStyle/>
        <a:p>
          <a:endParaRPr lang="en-IN"/>
        </a:p>
      </dgm:t>
    </dgm:pt>
    <dgm:pt modelId="{7660565B-54BD-426E-B5F4-AF8087B02E1B}">
      <dgm:prSet phldrT="[Text]"/>
      <dgm:spPr/>
      <dgm:t>
        <a:bodyPr/>
        <a:lstStyle/>
        <a:p>
          <a:r>
            <a:rPr lang="en-IN" b="1" dirty="0"/>
            <a:t>Phase 2</a:t>
          </a:r>
        </a:p>
      </dgm:t>
    </dgm:pt>
    <dgm:pt modelId="{8242069E-DBBD-4F03-9594-3DEBBC6E267E}" type="parTrans" cxnId="{C4C28075-0C5A-46BA-A5C9-DE596221ADFE}">
      <dgm:prSet/>
      <dgm:spPr/>
      <dgm:t>
        <a:bodyPr/>
        <a:lstStyle/>
        <a:p>
          <a:endParaRPr lang="en-IN"/>
        </a:p>
      </dgm:t>
    </dgm:pt>
    <dgm:pt modelId="{E73DF8D2-41E1-4655-916E-E286640FB53F}" type="sibTrans" cxnId="{C4C28075-0C5A-46BA-A5C9-DE596221ADFE}">
      <dgm:prSet/>
      <dgm:spPr/>
      <dgm:t>
        <a:bodyPr/>
        <a:lstStyle/>
        <a:p>
          <a:endParaRPr lang="en-IN"/>
        </a:p>
      </dgm:t>
    </dgm:pt>
    <dgm:pt modelId="{20E743B9-5DF8-4841-8413-9DE491A2A413}">
      <dgm:prSet phldrT="[Text]"/>
      <dgm:spPr/>
      <dgm:t>
        <a:bodyPr/>
        <a:lstStyle/>
        <a:p>
          <a:r>
            <a:rPr lang="en-IN" dirty="0"/>
            <a:t>Plan: </a:t>
          </a:r>
          <a:r>
            <a:rPr lang="en-IN" b="1" dirty="0"/>
            <a:t>In depth portfolio specific learning</a:t>
          </a:r>
          <a:r>
            <a:rPr lang="en-IN" dirty="0"/>
            <a:t> of OT Aviator solution through instructor led classroom sessions, Shadow projects</a:t>
          </a:r>
        </a:p>
      </dgm:t>
    </dgm:pt>
    <dgm:pt modelId="{C22B5F10-C082-4D62-8DE9-AFCB4C73E862}" type="parTrans" cxnId="{A6AF4653-9E8B-4178-8201-7277F97108E9}">
      <dgm:prSet/>
      <dgm:spPr/>
      <dgm:t>
        <a:bodyPr/>
        <a:lstStyle/>
        <a:p>
          <a:endParaRPr lang="en-IN"/>
        </a:p>
      </dgm:t>
    </dgm:pt>
    <dgm:pt modelId="{6D62CEC3-B96E-4365-8E31-024681BEB2B6}" type="sibTrans" cxnId="{A6AF4653-9E8B-4178-8201-7277F97108E9}">
      <dgm:prSet/>
      <dgm:spPr/>
      <dgm:t>
        <a:bodyPr/>
        <a:lstStyle/>
        <a:p>
          <a:endParaRPr lang="en-IN"/>
        </a:p>
      </dgm:t>
    </dgm:pt>
    <dgm:pt modelId="{B474B237-BE35-4443-BD99-82F1D0A6ADA9}">
      <dgm:prSet phldrT="[Text]"/>
      <dgm:spPr/>
      <dgm:t>
        <a:bodyPr/>
        <a:lstStyle/>
        <a:p>
          <a:r>
            <a:rPr lang="en-IN" b="1" dirty="0"/>
            <a:t>Phase 3</a:t>
          </a:r>
        </a:p>
      </dgm:t>
    </dgm:pt>
    <dgm:pt modelId="{5963DCB7-1FDD-4E6D-9B33-9ADEE505C579}" type="parTrans" cxnId="{C11BB204-EF25-46F4-9D65-47D8C5307F09}">
      <dgm:prSet/>
      <dgm:spPr/>
      <dgm:t>
        <a:bodyPr/>
        <a:lstStyle/>
        <a:p>
          <a:endParaRPr lang="en-IN"/>
        </a:p>
      </dgm:t>
    </dgm:pt>
    <dgm:pt modelId="{2E6BBDFD-FC97-428C-981B-716751555825}" type="sibTrans" cxnId="{C11BB204-EF25-46F4-9D65-47D8C5307F09}">
      <dgm:prSet/>
      <dgm:spPr/>
      <dgm:t>
        <a:bodyPr/>
        <a:lstStyle/>
        <a:p>
          <a:endParaRPr lang="en-IN"/>
        </a:p>
      </dgm:t>
    </dgm:pt>
    <dgm:pt modelId="{1C6CA60B-AACC-41DD-BBC1-E3DAF71B6929}">
      <dgm:prSet phldrT="[Text]"/>
      <dgm:spPr/>
      <dgm:t>
        <a:bodyPr/>
        <a:lstStyle/>
        <a:p>
          <a:r>
            <a:rPr lang="en-IN" dirty="0"/>
            <a:t>Plan: </a:t>
          </a:r>
          <a:r>
            <a:rPr lang="en-IN" b="1" dirty="0"/>
            <a:t>Developer level enablement </a:t>
          </a:r>
          <a:r>
            <a:rPr lang="en-IN" b="0" dirty="0"/>
            <a:t>for AI through mentoring &amp; lab access, build prototype AI solutions / use cases as a group</a:t>
          </a:r>
        </a:p>
      </dgm:t>
    </dgm:pt>
    <dgm:pt modelId="{698EE9B7-DC7A-40D0-AEAA-8C76E841CBD0}" type="parTrans" cxnId="{3C0CFD94-261F-4846-8011-052B735982F3}">
      <dgm:prSet/>
      <dgm:spPr/>
      <dgm:t>
        <a:bodyPr/>
        <a:lstStyle/>
        <a:p>
          <a:endParaRPr lang="en-IN"/>
        </a:p>
      </dgm:t>
    </dgm:pt>
    <dgm:pt modelId="{47EE5B82-B478-4245-B767-22F9D0D8832F}" type="sibTrans" cxnId="{3C0CFD94-261F-4846-8011-052B735982F3}">
      <dgm:prSet/>
      <dgm:spPr/>
      <dgm:t>
        <a:bodyPr/>
        <a:lstStyle/>
        <a:p>
          <a:endParaRPr lang="en-IN"/>
        </a:p>
      </dgm:t>
    </dgm:pt>
    <dgm:pt modelId="{1F6B2497-4C20-4C85-B0C6-20CD5A0D30E8}">
      <dgm:prSet phldrT="[Text]"/>
      <dgm:spPr/>
      <dgm:t>
        <a:bodyPr/>
        <a:lstStyle/>
        <a:p>
          <a:r>
            <a:rPr lang="en-IN" dirty="0"/>
            <a:t>Duration: </a:t>
          </a:r>
          <a:r>
            <a:rPr lang="en-IN" b="1" dirty="0"/>
            <a:t>2 months</a:t>
          </a:r>
        </a:p>
      </dgm:t>
    </dgm:pt>
    <dgm:pt modelId="{7CCAC43C-6C08-472B-B483-BBB5958F3654}" type="parTrans" cxnId="{7A876DCE-3B6C-4A4D-8BBE-A8ECAFD43060}">
      <dgm:prSet/>
      <dgm:spPr/>
      <dgm:t>
        <a:bodyPr/>
        <a:lstStyle/>
        <a:p>
          <a:endParaRPr lang="en-IN"/>
        </a:p>
      </dgm:t>
    </dgm:pt>
    <dgm:pt modelId="{CF06D39A-37A9-4C8F-9FA1-11C621FA50D0}" type="sibTrans" cxnId="{7A876DCE-3B6C-4A4D-8BBE-A8ECAFD43060}">
      <dgm:prSet/>
      <dgm:spPr/>
      <dgm:t>
        <a:bodyPr/>
        <a:lstStyle/>
        <a:p>
          <a:endParaRPr lang="en-IN"/>
        </a:p>
      </dgm:t>
    </dgm:pt>
    <dgm:pt modelId="{FF579524-23CF-4AB5-BABA-080E99D3639B}">
      <dgm:prSet phldrT="[Text]"/>
      <dgm:spPr/>
      <dgm:t>
        <a:bodyPr/>
        <a:lstStyle/>
        <a:p>
          <a:r>
            <a:rPr lang="en-IN" dirty="0"/>
            <a:t>Duration: </a:t>
          </a:r>
          <a:r>
            <a:rPr lang="en-IN" b="1" dirty="0"/>
            <a:t>2 months</a:t>
          </a:r>
        </a:p>
      </dgm:t>
    </dgm:pt>
    <dgm:pt modelId="{98101F1E-7D97-4EEE-A086-9A4584CCCBED}" type="parTrans" cxnId="{1288EAD3-A44A-4511-A798-25C1506DA604}">
      <dgm:prSet/>
      <dgm:spPr/>
      <dgm:t>
        <a:bodyPr/>
        <a:lstStyle/>
        <a:p>
          <a:endParaRPr lang="en-IN"/>
        </a:p>
      </dgm:t>
    </dgm:pt>
    <dgm:pt modelId="{0EB3E544-37E4-4ABB-9936-54006260433D}" type="sibTrans" cxnId="{1288EAD3-A44A-4511-A798-25C1506DA604}">
      <dgm:prSet/>
      <dgm:spPr/>
      <dgm:t>
        <a:bodyPr/>
        <a:lstStyle/>
        <a:p>
          <a:endParaRPr lang="en-IN"/>
        </a:p>
      </dgm:t>
    </dgm:pt>
    <dgm:pt modelId="{648FA74E-78E7-4579-8B58-98761EF360CD}">
      <dgm:prSet phldrT="[Text]"/>
      <dgm:spPr/>
      <dgm:t>
        <a:bodyPr/>
        <a:lstStyle/>
        <a:p>
          <a:r>
            <a:rPr lang="en-IN" b="0" dirty="0"/>
            <a:t>Timeline: M3Q1 to M1Q2 (Sept, Oct 2025)</a:t>
          </a:r>
        </a:p>
      </dgm:t>
    </dgm:pt>
    <dgm:pt modelId="{64E8859A-4C01-49BB-BDB8-636ABE62805C}" type="parTrans" cxnId="{EB9B254D-EFE1-41E5-9827-10FED66BA734}">
      <dgm:prSet/>
      <dgm:spPr/>
      <dgm:t>
        <a:bodyPr/>
        <a:lstStyle/>
        <a:p>
          <a:endParaRPr lang="en-IN"/>
        </a:p>
      </dgm:t>
    </dgm:pt>
    <dgm:pt modelId="{16D4AEBC-1D9C-4CE1-AB4D-E6A9721416CE}" type="sibTrans" cxnId="{EB9B254D-EFE1-41E5-9827-10FED66BA734}">
      <dgm:prSet/>
      <dgm:spPr/>
      <dgm:t>
        <a:bodyPr/>
        <a:lstStyle/>
        <a:p>
          <a:endParaRPr lang="en-IN"/>
        </a:p>
      </dgm:t>
    </dgm:pt>
    <dgm:pt modelId="{45AEBC0F-9290-423F-8AF5-5C6FCF1D794E}">
      <dgm:prSet phldrT="[Text]"/>
      <dgm:spPr/>
      <dgm:t>
        <a:bodyPr/>
        <a:lstStyle/>
        <a:p>
          <a:r>
            <a:rPr lang="en-IN" b="0" dirty="0"/>
            <a:t>Timeline: M3Q2 to early M1Q3 (Dec 2025, Jan 2026)</a:t>
          </a:r>
        </a:p>
      </dgm:t>
    </dgm:pt>
    <dgm:pt modelId="{20B6FEFE-BADD-4D58-879B-8A7A968BB242}" type="parTrans" cxnId="{9573D1E7-2DDF-46FA-B084-BD1680A93BC4}">
      <dgm:prSet/>
      <dgm:spPr/>
      <dgm:t>
        <a:bodyPr/>
        <a:lstStyle/>
        <a:p>
          <a:endParaRPr lang="en-IN"/>
        </a:p>
      </dgm:t>
    </dgm:pt>
    <dgm:pt modelId="{F1790EDF-C4DF-435A-87E5-D7A3BD6AA43F}" type="sibTrans" cxnId="{9573D1E7-2DDF-46FA-B084-BD1680A93BC4}">
      <dgm:prSet/>
      <dgm:spPr/>
      <dgm:t>
        <a:bodyPr/>
        <a:lstStyle/>
        <a:p>
          <a:endParaRPr lang="en-IN"/>
        </a:p>
      </dgm:t>
    </dgm:pt>
    <dgm:pt modelId="{C86C6840-9EC0-42D4-89A0-1A0838EA6093}">
      <dgm:prSet phldrT="[Text]"/>
      <dgm:spPr/>
      <dgm:t>
        <a:bodyPr/>
        <a:lstStyle/>
        <a:p>
          <a:r>
            <a:rPr lang="en-IN" dirty="0"/>
            <a:t>Duration: </a:t>
          </a:r>
          <a:r>
            <a:rPr lang="en-IN" b="1" dirty="0"/>
            <a:t>4 months</a:t>
          </a:r>
        </a:p>
      </dgm:t>
    </dgm:pt>
    <dgm:pt modelId="{DB14DD27-A41F-42D7-B7C8-F65AF2558D6C}" type="parTrans" cxnId="{8CF4AB78-85BD-41A1-80DC-767F83F935A4}">
      <dgm:prSet/>
      <dgm:spPr/>
      <dgm:t>
        <a:bodyPr/>
        <a:lstStyle/>
        <a:p>
          <a:endParaRPr lang="en-IN"/>
        </a:p>
      </dgm:t>
    </dgm:pt>
    <dgm:pt modelId="{6E1D3F78-9334-4ED7-95AA-F009A7A7A9AF}" type="sibTrans" cxnId="{8CF4AB78-85BD-41A1-80DC-767F83F935A4}">
      <dgm:prSet/>
      <dgm:spPr/>
      <dgm:t>
        <a:bodyPr/>
        <a:lstStyle/>
        <a:p>
          <a:endParaRPr lang="en-IN"/>
        </a:p>
      </dgm:t>
    </dgm:pt>
    <dgm:pt modelId="{DBC26D91-C40D-437B-B53D-8654E35C9547}">
      <dgm:prSet phldrT="[Text]"/>
      <dgm:spPr/>
      <dgm:t>
        <a:bodyPr/>
        <a:lstStyle/>
        <a:p>
          <a:r>
            <a:rPr lang="en-IN" dirty="0"/>
            <a:t>Timeline: M3Q3 to M3Q4 (March – June 2026)</a:t>
          </a:r>
        </a:p>
      </dgm:t>
    </dgm:pt>
    <dgm:pt modelId="{8E5599D3-B8ED-4D1C-8240-4850940E0A11}" type="parTrans" cxnId="{0D58AC47-0910-4377-ABE1-BF4793A9BAF6}">
      <dgm:prSet/>
      <dgm:spPr/>
      <dgm:t>
        <a:bodyPr/>
        <a:lstStyle/>
        <a:p>
          <a:endParaRPr lang="en-IN"/>
        </a:p>
      </dgm:t>
    </dgm:pt>
    <dgm:pt modelId="{98A1E9F9-FFCB-4A97-8618-9E8AD63CE842}" type="sibTrans" cxnId="{0D58AC47-0910-4377-ABE1-BF4793A9BAF6}">
      <dgm:prSet/>
      <dgm:spPr/>
      <dgm:t>
        <a:bodyPr/>
        <a:lstStyle/>
        <a:p>
          <a:endParaRPr lang="en-IN"/>
        </a:p>
      </dgm:t>
    </dgm:pt>
    <dgm:pt modelId="{0782DA08-6E5E-4ECD-BC43-C6723167B10D}">
      <dgm:prSet phldrT="[Text]"/>
      <dgm:spPr/>
      <dgm:t>
        <a:bodyPr/>
        <a:lstStyle/>
        <a:p>
          <a:r>
            <a:rPr lang="en-IN" dirty="0"/>
            <a:t>Goal: </a:t>
          </a:r>
          <a:r>
            <a:rPr lang="en-IN" b="1" dirty="0"/>
            <a:t>General AI Awareness</a:t>
          </a:r>
          <a:endParaRPr lang="en-IN" dirty="0"/>
        </a:p>
      </dgm:t>
    </dgm:pt>
    <dgm:pt modelId="{B2E562D9-D7CE-4291-BD89-060ED1418246}" type="parTrans" cxnId="{AB99D7BF-8A2F-453F-BBDF-CD0FD0AE7A29}">
      <dgm:prSet/>
      <dgm:spPr/>
      <dgm:t>
        <a:bodyPr/>
        <a:lstStyle/>
        <a:p>
          <a:endParaRPr lang="en-IN"/>
        </a:p>
      </dgm:t>
    </dgm:pt>
    <dgm:pt modelId="{8DCF122F-AC2A-48DC-B17F-5E8A1E5A9FC4}" type="sibTrans" cxnId="{AB99D7BF-8A2F-453F-BBDF-CD0FD0AE7A29}">
      <dgm:prSet/>
      <dgm:spPr/>
      <dgm:t>
        <a:bodyPr/>
        <a:lstStyle/>
        <a:p>
          <a:endParaRPr lang="en-IN"/>
        </a:p>
      </dgm:t>
    </dgm:pt>
    <dgm:pt modelId="{BB9771A5-928B-4A1E-A7C8-F689FF2AA127}">
      <dgm:prSet phldrT="[Text]"/>
      <dgm:spPr/>
      <dgm:t>
        <a:bodyPr/>
        <a:lstStyle/>
        <a:p>
          <a:r>
            <a:rPr lang="en-IN" dirty="0"/>
            <a:t>Goal: </a:t>
          </a:r>
          <a:r>
            <a:rPr lang="en-IN" b="1" dirty="0"/>
            <a:t>Design and deliver OT ODC Aviator solution</a:t>
          </a:r>
          <a:endParaRPr lang="en-IN" dirty="0"/>
        </a:p>
      </dgm:t>
    </dgm:pt>
    <dgm:pt modelId="{E40235EC-DE20-48D5-88C0-31C8FF06482A}" type="parTrans" cxnId="{32495405-216B-4AA8-9AFF-026B8EB8728F}">
      <dgm:prSet/>
      <dgm:spPr/>
      <dgm:t>
        <a:bodyPr/>
        <a:lstStyle/>
        <a:p>
          <a:endParaRPr lang="en-IN"/>
        </a:p>
      </dgm:t>
    </dgm:pt>
    <dgm:pt modelId="{AD935F10-154E-4B54-A2ED-9122D8F53D2C}" type="sibTrans" cxnId="{32495405-216B-4AA8-9AFF-026B8EB8728F}">
      <dgm:prSet/>
      <dgm:spPr/>
      <dgm:t>
        <a:bodyPr/>
        <a:lstStyle/>
        <a:p>
          <a:endParaRPr lang="en-IN"/>
        </a:p>
      </dgm:t>
    </dgm:pt>
    <dgm:pt modelId="{40B6EBFA-3122-4E42-B0BE-77827FED1B71}">
      <dgm:prSet phldrT="[Text]"/>
      <dgm:spPr/>
      <dgm:t>
        <a:bodyPr/>
        <a:lstStyle/>
        <a:p>
          <a:r>
            <a:rPr lang="en-IN" dirty="0"/>
            <a:t>Goal: </a:t>
          </a:r>
          <a:r>
            <a:rPr lang="en-IN" b="1" dirty="0"/>
            <a:t>B</a:t>
          </a:r>
          <a:r>
            <a:rPr lang="en-US" b="1" dirty="0" err="1"/>
            <a:t>uild</a:t>
          </a:r>
          <a:r>
            <a:rPr lang="en-US" b="1" dirty="0"/>
            <a:t> new use cases and AI applications</a:t>
          </a:r>
          <a:r>
            <a:rPr lang="en-US" dirty="0"/>
            <a:t> to complement standard Aviator offerings</a:t>
          </a:r>
          <a:endParaRPr lang="en-IN" b="1" dirty="0"/>
        </a:p>
      </dgm:t>
    </dgm:pt>
    <dgm:pt modelId="{0BFCFE79-F591-48CB-BD4D-6ADA21DF6846}" type="parTrans" cxnId="{F7581601-DA2B-4D70-AD43-4FD0D1E20072}">
      <dgm:prSet/>
      <dgm:spPr/>
      <dgm:t>
        <a:bodyPr/>
        <a:lstStyle/>
        <a:p>
          <a:endParaRPr lang="en-IN"/>
        </a:p>
      </dgm:t>
    </dgm:pt>
    <dgm:pt modelId="{F4045355-40D1-459C-86FC-D18FC946A2D7}" type="sibTrans" cxnId="{F7581601-DA2B-4D70-AD43-4FD0D1E20072}">
      <dgm:prSet/>
      <dgm:spPr/>
      <dgm:t>
        <a:bodyPr/>
        <a:lstStyle/>
        <a:p>
          <a:endParaRPr lang="en-IN"/>
        </a:p>
      </dgm:t>
    </dgm:pt>
    <dgm:pt modelId="{4121FBBB-9FCA-44B9-83CF-78CC1384B2D6}" type="pres">
      <dgm:prSet presAssocID="{C01899B8-5C83-47FB-8FF3-4FF06BCD071A}" presName="rootnode" presStyleCnt="0">
        <dgm:presLayoutVars>
          <dgm:chMax/>
          <dgm:chPref/>
          <dgm:dir/>
          <dgm:animLvl val="lvl"/>
        </dgm:presLayoutVars>
      </dgm:prSet>
      <dgm:spPr/>
    </dgm:pt>
    <dgm:pt modelId="{B3CBD99C-67CF-4470-AC19-9A09E82B03FC}" type="pres">
      <dgm:prSet presAssocID="{4008C1D0-3726-4476-8F6A-E4187C400AE9}" presName="composite" presStyleCnt="0"/>
      <dgm:spPr/>
    </dgm:pt>
    <dgm:pt modelId="{7885073F-135C-42B9-B53C-DF22712001E0}" type="pres">
      <dgm:prSet presAssocID="{4008C1D0-3726-4476-8F6A-E4187C400AE9}" presName="LShape" presStyleLbl="alignNode1" presStyleIdx="0" presStyleCnt="5"/>
      <dgm:spPr/>
    </dgm:pt>
    <dgm:pt modelId="{8990DEBD-73D2-4F43-A2C5-429984EAC553}" type="pres">
      <dgm:prSet presAssocID="{4008C1D0-3726-4476-8F6A-E4187C400AE9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554A2B59-7B38-47AB-B4F2-6D5C01BD3A34}" type="pres">
      <dgm:prSet presAssocID="{4008C1D0-3726-4476-8F6A-E4187C400AE9}" presName="Triangle" presStyleLbl="alignNode1" presStyleIdx="1" presStyleCnt="5"/>
      <dgm:spPr/>
    </dgm:pt>
    <dgm:pt modelId="{8DFE851C-A0A9-4201-A285-4DBD1B27B9DC}" type="pres">
      <dgm:prSet presAssocID="{034A8E0B-8A1D-4F00-AA76-44986DD23283}" presName="sibTrans" presStyleCnt="0"/>
      <dgm:spPr/>
    </dgm:pt>
    <dgm:pt modelId="{D18929F2-0E93-4C3C-8BD5-CBF4146B4682}" type="pres">
      <dgm:prSet presAssocID="{034A8E0B-8A1D-4F00-AA76-44986DD23283}" presName="space" presStyleCnt="0"/>
      <dgm:spPr/>
    </dgm:pt>
    <dgm:pt modelId="{5068BA31-1DE6-4108-8FD4-613FD46D1AE5}" type="pres">
      <dgm:prSet presAssocID="{7660565B-54BD-426E-B5F4-AF8087B02E1B}" presName="composite" presStyleCnt="0"/>
      <dgm:spPr/>
    </dgm:pt>
    <dgm:pt modelId="{3E417104-6309-4849-AE35-459112B6B036}" type="pres">
      <dgm:prSet presAssocID="{7660565B-54BD-426E-B5F4-AF8087B02E1B}" presName="LShape" presStyleLbl="alignNode1" presStyleIdx="2" presStyleCnt="5"/>
      <dgm:spPr/>
    </dgm:pt>
    <dgm:pt modelId="{CB48391C-8E13-4447-B7D6-75D256D50708}" type="pres">
      <dgm:prSet presAssocID="{7660565B-54BD-426E-B5F4-AF8087B02E1B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EED8BC7F-516C-40DA-9929-27B98A2DA325}" type="pres">
      <dgm:prSet presAssocID="{7660565B-54BD-426E-B5F4-AF8087B02E1B}" presName="Triangle" presStyleLbl="alignNode1" presStyleIdx="3" presStyleCnt="5"/>
      <dgm:spPr/>
    </dgm:pt>
    <dgm:pt modelId="{08EE632E-5B8A-416B-A92B-352F6190E14B}" type="pres">
      <dgm:prSet presAssocID="{E73DF8D2-41E1-4655-916E-E286640FB53F}" presName="sibTrans" presStyleCnt="0"/>
      <dgm:spPr/>
    </dgm:pt>
    <dgm:pt modelId="{3A2E8748-B9F7-4B0B-B866-17B26820396E}" type="pres">
      <dgm:prSet presAssocID="{E73DF8D2-41E1-4655-916E-E286640FB53F}" presName="space" presStyleCnt="0"/>
      <dgm:spPr/>
    </dgm:pt>
    <dgm:pt modelId="{A17FCFDC-4606-41DE-A270-F89A3179F12A}" type="pres">
      <dgm:prSet presAssocID="{B474B237-BE35-4443-BD99-82F1D0A6ADA9}" presName="composite" presStyleCnt="0"/>
      <dgm:spPr/>
    </dgm:pt>
    <dgm:pt modelId="{7BCE40A8-28E9-47CF-BFC6-D796069C6F9D}" type="pres">
      <dgm:prSet presAssocID="{B474B237-BE35-4443-BD99-82F1D0A6ADA9}" presName="LShape" presStyleLbl="alignNode1" presStyleIdx="4" presStyleCnt="5"/>
      <dgm:spPr/>
    </dgm:pt>
    <dgm:pt modelId="{88EDAFE9-804E-4A15-96DD-DC7EC65AF4A0}" type="pres">
      <dgm:prSet presAssocID="{B474B237-BE35-4443-BD99-82F1D0A6ADA9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7581601-DA2B-4D70-AD43-4FD0D1E20072}" srcId="{B474B237-BE35-4443-BD99-82F1D0A6ADA9}" destId="{40B6EBFA-3122-4E42-B0BE-77827FED1B71}" srcOrd="0" destOrd="0" parTransId="{0BFCFE79-F591-48CB-BD4D-6ADA21DF6846}" sibTransId="{F4045355-40D1-459C-86FC-D18FC946A2D7}"/>
    <dgm:cxn modelId="{C11BB204-EF25-46F4-9D65-47D8C5307F09}" srcId="{C01899B8-5C83-47FB-8FF3-4FF06BCD071A}" destId="{B474B237-BE35-4443-BD99-82F1D0A6ADA9}" srcOrd="2" destOrd="0" parTransId="{5963DCB7-1FDD-4E6D-9B33-9ADEE505C579}" sibTransId="{2E6BBDFD-FC97-428C-981B-716751555825}"/>
    <dgm:cxn modelId="{32495405-216B-4AA8-9AFF-026B8EB8728F}" srcId="{7660565B-54BD-426E-B5F4-AF8087B02E1B}" destId="{BB9771A5-928B-4A1E-A7C8-F689FF2AA127}" srcOrd="0" destOrd="0" parTransId="{E40235EC-DE20-48D5-88C0-31C8FF06482A}" sibTransId="{AD935F10-154E-4B54-A2ED-9122D8F53D2C}"/>
    <dgm:cxn modelId="{9135F11A-AF65-4A1C-A424-4BE0C2F012E9}" type="presOf" srcId="{B474B237-BE35-4443-BD99-82F1D0A6ADA9}" destId="{88EDAFE9-804E-4A15-96DD-DC7EC65AF4A0}" srcOrd="0" destOrd="0" presId="urn:microsoft.com/office/officeart/2009/3/layout/StepUpProcess"/>
    <dgm:cxn modelId="{CC0E6C25-C8B1-4118-9AB7-829307F36A6C}" srcId="{C01899B8-5C83-47FB-8FF3-4FF06BCD071A}" destId="{4008C1D0-3726-4476-8F6A-E4187C400AE9}" srcOrd="0" destOrd="0" parTransId="{53FADA43-DCFB-40B5-8613-AC3C9E47DB60}" sibTransId="{034A8E0B-8A1D-4F00-AA76-44986DD23283}"/>
    <dgm:cxn modelId="{18F69525-312A-468C-8B57-3539A00A2FF4}" type="presOf" srcId="{BB9771A5-928B-4A1E-A7C8-F689FF2AA127}" destId="{CB48391C-8E13-4447-B7D6-75D256D50708}" srcOrd="0" destOrd="1" presId="urn:microsoft.com/office/officeart/2009/3/layout/StepUpProcess"/>
    <dgm:cxn modelId="{4E43085C-91B4-4098-BC90-4A1C46D2B258}" type="presOf" srcId="{45AEBC0F-9290-423F-8AF5-5C6FCF1D794E}" destId="{CB48391C-8E13-4447-B7D6-75D256D50708}" srcOrd="0" destOrd="4" presId="urn:microsoft.com/office/officeart/2009/3/layout/StepUpProcess"/>
    <dgm:cxn modelId="{184D4661-B950-44C3-AED7-7437577D16C5}" type="presOf" srcId="{40B6EBFA-3122-4E42-B0BE-77827FED1B71}" destId="{88EDAFE9-804E-4A15-96DD-DC7EC65AF4A0}" srcOrd="0" destOrd="1" presId="urn:microsoft.com/office/officeart/2009/3/layout/StepUpProcess"/>
    <dgm:cxn modelId="{0D58AC47-0910-4377-ABE1-BF4793A9BAF6}" srcId="{B474B237-BE35-4443-BD99-82F1D0A6ADA9}" destId="{DBC26D91-C40D-437B-B53D-8654E35C9547}" srcOrd="3" destOrd="0" parTransId="{8E5599D3-B8ED-4D1C-8240-4850940E0A11}" sibTransId="{98A1E9F9-FFCB-4A97-8618-9E8AD63CE842}"/>
    <dgm:cxn modelId="{439BE849-9E67-4E03-BC95-60D258FF5595}" type="presOf" srcId="{FF579524-23CF-4AB5-BABA-080E99D3639B}" destId="{CB48391C-8E13-4447-B7D6-75D256D50708}" srcOrd="0" destOrd="3" presId="urn:microsoft.com/office/officeart/2009/3/layout/StepUpProcess"/>
    <dgm:cxn modelId="{241BD86A-AF0A-4FF8-B628-47EA4BB8524F}" type="presOf" srcId="{0782DA08-6E5E-4ECD-BC43-C6723167B10D}" destId="{8990DEBD-73D2-4F43-A2C5-429984EAC553}" srcOrd="0" destOrd="1" presId="urn:microsoft.com/office/officeart/2009/3/layout/StepUpProcess"/>
    <dgm:cxn modelId="{EB9B254D-EFE1-41E5-9827-10FED66BA734}" srcId="{4008C1D0-3726-4476-8F6A-E4187C400AE9}" destId="{648FA74E-78E7-4579-8B58-98761EF360CD}" srcOrd="3" destOrd="0" parTransId="{64E8859A-4C01-49BB-BDB8-636ABE62805C}" sibTransId="{16D4AEBC-1D9C-4CE1-AB4D-E6A9721416CE}"/>
    <dgm:cxn modelId="{A1F4426F-4C84-4611-B3CE-37B4D2FD142C}" type="presOf" srcId="{C86C6840-9EC0-42D4-89A0-1A0838EA6093}" destId="{88EDAFE9-804E-4A15-96DD-DC7EC65AF4A0}" srcOrd="0" destOrd="3" presId="urn:microsoft.com/office/officeart/2009/3/layout/StepUpProcess"/>
    <dgm:cxn modelId="{A6AF4653-9E8B-4178-8201-7277F97108E9}" srcId="{7660565B-54BD-426E-B5F4-AF8087B02E1B}" destId="{20E743B9-5DF8-4841-8413-9DE491A2A413}" srcOrd="1" destOrd="0" parTransId="{C22B5F10-C082-4D62-8DE9-AFCB4C73E862}" sibTransId="{6D62CEC3-B96E-4365-8E31-024681BEB2B6}"/>
    <dgm:cxn modelId="{C4C28075-0C5A-46BA-A5C9-DE596221ADFE}" srcId="{C01899B8-5C83-47FB-8FF3-4FF06BCD071A}" destId="{7660565B-54BD-426E-B5F4-AF8087B02E1B}" srcOrd="1" destOrd="0" parTransId="{8242069E-DBBD-4F03-9594-3DEBBC6E267E}" sibTransId="{E73DF8D2-41E1-4655-916E-E286640FB53F}"/>
    <dgm:cxn modelId="{8CF4AB78-85BD-41A1-80DC-767F83F935A4}" srcId="{B474B237-BE35-4443-BD99-82F1D0A6ADA9}" destId="{C86C6840-9EC0-42D4-89A0-1A0838EA6093}" srcOrd="2" destOrd="0" parTransId="{DB14DD27-A41F-42D7-B7C8-F65AF2558D6C}" sibTransId="{6E1D3F78-9334-4ED7-95AA-F009A7A7A9AF}"/>
    <dgm:cxn modelId="{FCBF5A8B-3B9E-442C-AEE3-E6EEEAB644D0}" type="presOf" srcId="{648FA74E-78E7-4579-8B58-98761EF360CD}" destId="{8990DEBD-73D2-4F43-A2C5-429984EAC553}" srcOrd="0" destOrd="4" presId="urn:microsoft.com/office/officeart/2009/3/layout/StepUpProcess"/>
    <dgm:cxn modelId="{9D7D1794-382C-4953-BB66-1387EB68CB94}" type="presOf" srcId="{C01899B8-5C83-47FB-8FF3-4FF06BCD071A}" destId="{4121FBBB-9FCA-44B9-83CF-78CC1384B2D6}" srcOrd="0" destOrd="0" presId="urn:microsoft.com/office/officeart/2009/3/layout/StepUpProcess"/>
    <dgm:cxn modelId="{3C0CFD94-261F-4846-8011-052B735982F3}" srcId="{B474B237-BE35-4443-BD99-82F1D0A6ADA9}" destId="{1C6CA60B-AACC-41DD-BBC1-E3DAF71B6929}" srcOrd="1" destOrd="0" parTransId="{698EE9B7-DC7A-40D0-AEAA-8C76E841CBD0}" sibTransId="{47EE5B82-B478-4245-B767-22F9D0D8832F}"/>
    <dgm:cxn modelId="{121CFEA4-0CAB-4BCD-BB9E-CDE3F41FF433}" type="presOf" srcId="{7660565B-54BD-426E-B5F4-AF8087B02E1B}" destId="{CB48391C-8E13-4447-B7D6-75D256D50708}" srcOrd="0" destOrd="0" presId="urn:microsoft.com/office/officeart/2009/3/layout/StepUpProcess"/>
    <dgm:cxn modelId="{AA3222AB-CD70-411B-AABE-5D551F767B33}" type="presOf" srcId="{DBC26D91-C40D-437B-B53D-8654E35C9547}" destId="{88EDAFE9-804E-4A15-96DD-DC7EC65AF4A0}" srcOrd="0" destOrd="4" presId="urn:microsoft.com/office/officeart/2009/3/layout/StepUpProcess"/>
    <dgm:cxn modelId="{AB99D7BF-8A2F-453F-BBDF-CD0FD0AE7A29}" srcId="{4008C1D0-3726-4476-8F6A-E4187C400AE9}" destId="{0782DA08-6E5E-4ECD-BC43-C6723167B10D}" srcOrd="0" destOrd="0" parTransId="{B2E562D9-D7CE-4291-BD89-060ED1418246}" sibTransId="{8DCF122F-AC2A-48DC-B17F-5E8A1E5A9FC4}"/>
    <dgm:cxn modelId="{012B15C7-8F17-4455-B50A-56D4A93D834C}" type="presOf" srcId="{F22F2B1E-494C-4595-B9E3-FEF52B6E1D1D}" destId="{8990DEBD-73D2-4F43-A2C5-429984EAC553}" srcOrd="0" destOrd="2" presId="urn:microsoft.com/office/officeart/2009/3/layout/StepUpProcess"/>
    <dgm:cxn modelId="{7A876DCE-3B6C-4A4D-8BBE-A8ECAFD43060}" srcId="{4008C1D0-3726-4476-8F6A-E4187C400AE9}" destId="{1F6B2497-4C20-4C85-B0C6-20CD5A0D30E8}" srcOrd="2" destOrd="0" parTransId="{7CCAC43C-6C08-472B-B483-BBB5958F3654}" sibTransId="{CF06D39A-37A9-4C8F-9FA1-11C621FA50D0}"/>
    <dgm:cxn modelId="{1288EAD3-A44A-4511-A798-25C1506DA604}" srcId="{7660565B-54BD-426E-B5F4-AF8087B02E1B}" destId="{FF579524-23CF-4AB5-BABA-080E99D3639B}" srcOrd="2" destOrd="0" parTransId="{98101F1E-7D97-4EEE-A086-9A4584CCCBED}" sibTransId="{0EB3E544-37E4-4ABB-9936-54006260433D}"/>
    <dgm:cxn modelId="{82D0E3D8-8075-4C86-BAEC-5232B7B23F5D}" srcId="{4008C1D0-3726-4476-8F6A-E4187C400AE9}" destId="{F22F2B1E-494C-4595-B9E3-FEF52B6E1D1D}" srcOrd="1" destOrd="0" parTransId="{6565AD58-A314-493B-80D4-80D7FC3912D8}" sibTransId="{DD0444A7-827D-46A5-8ABE-FB62FB224CE3}"/>
    <dgm:cxn modelId="{97A1A1DD-F17B-47B7-852D-FD6BD8F43016}" type="presOf" srcId="{20E743B9-5DF8-4841-8413-9DE491A2A413}" destId="{CB48391C-8E13-4447-B7D6-75D256D50708}" srcOrd="0" destOrd="2" presId="urn:microsoft.com/office/officeart/2009/3/layout/StepUpProcess"/>
    <dgm:cxn modelId="{62CD5DE3-91AA-4E00-B1A4-FA59FDB924F0}" type="presOf" srcId="{1C6CA60B-AACC-41DD-BBC1-E3DAF71B6929}" destId="{88EDAFE9-804E-4A15-96DD-DC7EC65AF4A0}" srcOrd="0" destOrd="2" presId="urn:microsoft.com/office/officeart/2009/3/layout/StepUpProcess"/>
    <dgm:cxn modelId="{9573D1E7-2DDF-46FA-B084-BD1680A93BC4}" srcId="{7660565B-54BD-426E-B5F4-AF8087B02E1B}" destId="{45AEBC0F-9290-423F-8AF5-5C6FCF1D794E}" srcOrd="3" destOrd="0" parTransId="{20B6FEFE-BADD-4D58-879B-8A7A968BB242}" sibTransId="{F1790EDF-C4DF-435A-87E5-D7A3BD6AA43F}"/>
    <dgm:cxn modelId="{52383EFA-9B1D-4C36-BE0D-DF899509EA72}" type="presOf" srcId="{4008C1D0-3726-4476-8F6A-E4187C400AE9}" destId="{8990DEBD-73D2-4F43-A2C5-429984EAC553}" srcOrd="0" destOrd="0" presId="urn:microsoft.com/office/officeart/2009/3/layout/StepUpProcess"/>
    <dgm:cxn modelId="{0A8117FD-B80A-41FD-A311-CF1BE87C3DAE}" type="presOf" srcId="{1F6B2497-4C20-4C85-B0C6-20CD5A0D30E8}" destId="{8990DEBD-73D2-4F43-A2C5-429984EAC553}" srcOrd="0" destOrd="3" presId="urn:microsoft.com/office/officeart/2009/3/layout/StepUpProcess"/>
    <dgm:cxn modelId="{15FF7972-47FB-4650-A0DE-34B3186FA2DC}" type="presParOf" srcId="{4121FBBB-9FCA-44B9-83CF-78CC1384B2D6}" destId="{B3CBD99C-67CF-4470-AC19-9A09E82B03FC}" srcOrd="0" destOrd="0" presId="urn:microsoft.com/office/officeart/2009/3/layout/StepUpProcess"/>
    <dgm:cxn modelId="{451A1D7B-851E-40BD-AA57-B32B6765EA7F}" type="presParOf" srcId="{B3CBD99C-67CF-4470-AC19-9A09E82B03FC}" destId="{7885073F-135C-42B9-B53C-DF22712001E0}" srcOrd="0" destOrd="0" presId="urn:microsoft.com/office/officeart/2009/3/layout/StepUpProcess"/>
    <dgm:cxn modelId="{CD5F3A4C-ACEA-4519-A36B-CA654A086774}" type="presParOf" srcId="{B3CBD99C-67CF-4470-AC19-9A09E82B03FC}" destId="{8990DEBD-73D2-4F43-A2C5-429984EAC553}" srcOrd="1" destOrd="0" presId="urn:microsoft.com/office/officeart/2009/3/layout/StepUpProcess"/>
    <dgm:cxn modelId="{8C8209C9-8516-4773-9BFE-ABEB630B852E}" type="presParOf" srcId="{B3CBD99C-67CF-4470-AC19-9A09E82B03FC}" destId="{554A2B59-7B38-47AB-B4F2-6D5C01BD3A34}" srcOrd="2" destOrd="0" presId="urn:microsoft.com/office/officeart/2009/3/layout/StepUpProcess"/>
    <dgm:cxn modelId="{92C9A1B7-1709-4094-ACCD-981341B5FEA1}" type="presParOf" srcId="{4121FBBB-9FCA-44B9-83CF-78CC1384B2D6}" destId="{8DFE851C-A0A9-4201-A285-4DBD1B27B9DC}" srcOrd="1" destOrd="0" presId="urn:microsoft.com/office/officeart/2009/3/layout/StepUpProcess"/>
    <dgm:cxn modelId="{AB2BC2D6-318E-4FDA-ABDC-FF4D3F484AFE}" type="presParOf" srcId="{8DFE851C-A0A9-4201-A285-4DBD1B27B9DC}" destId="{D18929F2-0E93-4C3C-8BD5-CBF4146B4682}" srcOrd="0" destOrd="0" presId="urn:microsoft.com/office/officeart/2009/3/layout/StepUpProcess"/>
    <dgm:cxn modelId="{7EA3D01C-A155-4355-9B6B-5E2A8BC376DD}" type="presParOf" srcId="{4121FBBB-9FCA-44B9-83CF-78CC1384B2D6}" destId="{5068BA31-1DE6-4108-8FD4-613FD46D1AE5}" srcOrd="2" destOrd="0" presId="urn:microsoft.com/office/officeart/2009/3/layout/StepUpProcess"/>
    <dgm:cxn modelId="{7A918BDA-0C5A-4A97-A7F4-A0E9E7943539}" type="presParOf" srcId="{5068BA31-1DE6-4108-8FD4-613FD46D1AE5}" destId="{3E417104-6309-4849-AE35-459112B6B036}" srcOrd="0" destOrd="0" presId="urn:microsoft.com/office/officeart/2009/3/layout/StepUpProcess"/>
    <dgm:cxn modelId="{45798F47-2CC8-4724-ADF5-E3C1A7186407}" type="presParOf" srcId="{5068BA31-1DE6-4108-8FD4-613FD46D1AE5}" destId="{CB48391C-8E13-4447-B7D6-75D256D50708}" srcOrd="1" destOrd="0" presId="urn:microsoft.com/office/officeart/2009/3/layout/StepUpProcess"/>
    <dgm:cxn modelId="{9988C9F1-C97E-4E62-8524-6C7EE8CCD87C}" type="presParOf" srcId="{5068BA31-1DE6-4108-8FD4-613FD46D1AE5}" destId="{EED8BC7F-516C-40DA-9929-27B98A2DA325}" srcOrd="2" destOrd="0" presId="urn:microsoft.com/office/officeart/2009/3/layout/StepUpProcess"/>
    <dgm:cxn modelId="{E5930026-30D7-406D-B4A1-990BACD51A3E}" type="presParOf" srcId="{4121FBBB-9FCA-44B9-83CF-78CC1384B2D6}" destId="{08EE632E-5B8A-416B-A92B-352F6190E14B}" srcOrd="3" destOrd="0" presId="urn:microsoft.com/office/officeart/2009/3/layout/StepUpProcess"/>
    <dgm:cxn modelId="{BA02A99E-0AA4-442E-955D-E357E1245434}" type="presParOf" srcId="{08EE632E-5B8A-416B-A92B-352F6190E14B}" destId="{3A2E8748-B9F7-4B0B-B866-17B26820396E}" srcOrd="0" destOrd="0" presId="urn:microsoft.com/office/officeart/2009/3/layout/StepUpProcess"/>
    <dgm:cxn modelId="{8E356EF7-E2E6-4CA0-B5E3-07AB565595F8}" type="presParOf" srcId="{4121FBBB-9FCA-44B9-83CF-78CC1384B2D6}" destId="{A17FCFDC-4606-41DE-A270-F89A3179F12A}" srcOrd="4" destOrd="0" presId="urn:microsoft.com/office/officeart/2009/3/layout/StepUpProcess"/>
    <dgm:cxn modelId="{48AC4F13-17AB-473D-AB1C-85BE90FC31C3}" type="presParOf" srcId="{A17FCFDC-4606-41DE-A270-F89A3179F12A}" destId="{7BCE40A8-28E9-47CF-BFC6-D796069C6F9D}" srcOrd="0" destOrd="0" presId="urn:microsoft.com/office/officeart/2009/3/layout/StepUpProcess"/>
    <dgm:cxn modelId="{35CBF013-117D-4EC6-A5E8-0519B63C6691}" type="presParOf" srcId="{A17FCFDC-4606-41DE-A270-F89A3179F12A}" destId="{88EDAFE9-804E-4A15-96DD-DC7EC65AF4A0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DD0292-5A2F-4382-BE7E-791B92D5C66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864631-C1DD-4980-B100-4DA065405BE1}">
      <dgm:prSet custT="1"/>
      <dgm:spPr>
        <a:xfrm>
          <a:off x="5160" y="0"/>
          <a:ext cx="1319798" cy="3934442"/>
        </a:xfrm>
        <a:prstGeom prst="roundRect">
          <a:avLst>
            <a:gd name="adj" fmla="val 10000"/>
          </a:avLst>
        </a:prstGeom>
        <a:solidFill>
          <a:srgbClr val="1668C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algn="ctr" rtl="0">
            <a:buNone/>
          </a:pPr>
          <a:r>
            <a:rPr lang="en-US" sz="16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Week 1 </a:t>
          </a:r>
        </a:p>
        <a:p>
          <a:pPr algn="ctr" rtl="0">
            <a:buNone/>
          </a:pPr>
          <a:r>
            <a:rPr lang="en-US" sz="1400" b="1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(Introduction)</a:t>
          </a:r>
        </a:p>
        <a:p>
          <a:pPr algn="ctr" rtl="0">
            <a:buNone/>
          </a:pPr>
          <a:endParaRPr lang="en-US" sz="1200" b="1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5D43C209-6D44-4079-8AED-1F0027C152B1}" type="parTrans" cxnId="{3C79DEB2-E572-4907-8AF8-E420C78D3F2A}">
      <dgm:prSet/>
      <dgm:spPr/>
      <dgm:t>
        <a:bodyPr/>
        <a:lstStyle/>
        <a:p>
          <a:endParaRPr lang="en-US"/>
        </a:p>
      </dgm:t>
    </dgm:pt>
    <dgm:pt modelId="{25600736-CDC3-49A6-8D00-8215FCD55F8C}" type="sibTrans" cxnId="{3C79DEB2-E572-4907-8AF8-E420C78D3F2A}">
      <dgm:prSet/>
      <dgm:spPr>
        <a:xfrm>
          <a:off x="1456939" y="1803565"/>
          <a:ext cx="279797" cy="327310"/>
        </a:xfrm>
        <a:prstGeom prst="rightArrow">
          <a:avLst>
            <a:gd name="adj1" fmla="val 60000"/>
            <a:gd name="adj2" fmla="val 50000"/>
          </a:avLst>
        </a:prstGeom>
        <a:solidFill>
          <a:srgbClr val="0079EF">
            <a:lumMod val="60000"/>
            <a:lumOff val="4000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029B4AEA-DEAF-4F7F-A0F2-31631F59786B}">
      <dgm:prSet custT="1"/>
      <dgm:spPr>
        <a:xfrm>
          <a:off x="5548315" y="-40002"/>
          <a:ext cx="1319798" cy="4014447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Week 8</a:t>
          </a:r>
        </a:p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Attempt Certification</a:t>
          </a:r>
        </a:p>
      </dgm:t>
    </dgm:pt>
    <dgm:pt modelId="{D995EA08-B2D7-46E8-ADBE-1414A3AB9F3F}" type="parTrans" cxnId="{24E771C4-C090-44C0-81AB-6680FA0BFD6B}">
      <dgm:prSet/>
      <dgm:spPr/>
      <dgm:t>
        <a:bodyPr/>
        <a:lstStyle/>
        <a:p>
          <a:endParaRPr lang="en-US"/>
        </a:p>
      </dgm:t>
    </dgm:pt>
    <dgm:pt modelId="{08C09F11-7EBE-422B-9E01-6E50D7B67E57}" type="sibTrans" cxnId="{24E771C4-C090-44C0-81AB-6680FA0BFD6B}">
      <dgm:prSet/>
      <dgm:spPr>
        <a:xfrm>
          <a:off x="7000093" y="1803565"/>
          <a:ext cx="279797" cy="327310"/>
        </a:xfrm>
        <a:solidFill>
          <a:srgbClr val="0079EF">
            <a:lumMod val="60000"/>
            <a:lumOff val="4000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AA5D55FC-687C-4059-83E8-1EE1693C0005}">
      <dgm:prSet custT="1"/>
      <dgm:spPr>
        <a:xfrm>
          <a:off x="3700597" y="-53735"/>
          <a:ext cx="1319798" cy="4041912"/>
        </a:xfrm>
        <a:solidFill>
          <a:schemeClr val="tx1">
            <a:lumMod val="65000"/>
            <a:lumOff val="35000"/>
          </a:scheme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Week 3</a:t>
          </a:r>
          <a:endParaRPr lang="en-US" sz="16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Day 1 - Introduction to  Generative AI Studio</a:t>
          </a:r>
          <a:endParaRPr lang="en-IN" sz="1400" b="1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CB0A31D9-97D9-433A-B30A-858B0A2D1F81}" type="parTrans" cxnId="{F6341858-84D7-46B8-B189-52E31C21461B}">
      <dgm:prSet/>
      <dgm:spPr/>
      <dgm:t>
        <a:bodyPr/>
        <a:lstStyle/>
        <a:p>
          <a:endParaRPr lang="en-IN"/>
        </a:p>
      </dgm:t>
    </dgm:pt>
    <dgm:pt modelId="{F1E4EF75-7F4E-416E-89DA-C62A13893E92}" type="sibTrans" cxnId="{F6341858-84D7-46B8-B189-52E31C21461B}">
      <dgm:prSet/>
      <dgm:spPr/>
      <dgm:t>
        <a:bodyPr/>
        <a:lstStyle/>
        <a:p>
          <a:endParaRPr lang="en-IN"/>
        </a:p>
      </dgm:t>
    </dgm:pt>
    <dgm:pt modelId="{3FDEB1CA-0DEB-4D34-879E-C7003357DD92}">
      <dgm:prSet custT="1"/>
      <dgm:spPr>
        <a:xfrm>
          <a:off x="1852878" y="-19556"/>
          <a:ext cx="1319798" cy="3973555"/>
        </a:xfrm>
        <a:prstGeom prst="roundRect">
          <a:avLst>
            <a:gd name="adj" fmla="val 10000"/>
          </a:avLst>
        </a:prstGeom>
        <a:solidFill>
          <a:srgbClr val="231CA5">
            <a:lumMod val="40000"/>
            <a:lumOff val="60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Week 2</a:t>
          </a:r>
        </a:p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(AI Fundamentals Essentials - Self learning  Google portal)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Day 1 –Value Edge &amp; Fortify Aviator – Interactive sessions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b="1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Day 2 - Generative AI fundamentals, Introduction to LLM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b="1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E9AA52F9-8BD4-477C-844B-7CAA2610DAF0}" type="sibTrans" cxnId="{9D439823-E780-4023-951B-1F8A6DF9477B}">
      <dgm:prSet/>
      <dgm:spPr>
        <a:xfrm>
          <a:off x="3304657" y="1803565"/>
          <a:ext cx="279797" cy="327310"/>
        </a:xfrm>
        <a:prstGeom prst="rightArrow">
          <a:avLst>
            <a:gd name="adj1" fmla="val 60000"/>
            <a:gd name="adj2" fmla="val 50000"/>
          </a:avLst>
        </a:prstGeom>
        <a:solidFill>
          <a:srgbClr val="0079EF">
            <a:lumMod val="60000"/>
            <a:lumOff val="40000"/>
          </a:srgbClr>
        </a:solidFill>
        <a:ln>
          <a:noFill/>
        </a:ln>
        <a:effectLst/>
      </dgm:spPr>
      <dgm:t>
        <a:bodyPr/>
        <a:lstStyle/>
        <a:p>
          <a:pPr>
            <a:buNone/>
          </a:pPr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14577933-3B3B-4EF7-9170-9164C64B929E}" type="parTrans" cxnId="{9D439823-E780-4023-951B-1F8A6DF9477B}">
      <dgm:prSet/>
      <dgm:spPr/>
      <dgm:t>
        <a:bodyPr/>
        <a:lstStyle/>
        <a:p>
          <a:endParaRPr lang="en-US"/>
        </a:p>
      </dgm:t>
    </dgm:pt>
    <dgm:pt modelId="{2EF724D7-B3ED-4EB1-B9CD-F3A822EBFE12}">
      <dgm:prSet custT="1"/>
      <dgm:spPr>
        <a:xfrm>
          <a:off x="1852878" y="-19556"/>
          <a:ext cx="1319798" cy="3973555"/>
        </a:xfrm>
        <a:solidFill>
          <a:srgbClr val="231CA5">
            <a:lumMod val="40000"/>
            <a:lumOff val="60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Day 3 - Generative AI for Business leaders</a:t>
          </a:r>
        </a:p>
      </dgm:t>
    </dgm:pt>
    <dgm:pt modelId="{C6540651-9219-440C-8F2C-467257FC37EA}" type="sibTrans" cxnId="{A5FEF3BD-5C4C-4E2B-984E-FD88FD3DCAF9}">
      <dgm:prSet/>
      <dgm:spPr/>
      <dgm:t>
        <a:bodyPr/>
        <a:lstStyle/>
        <a:p>
          <a:endParaRPr lang="en-GB"/>
        </a:p>
      </dgm:t>
    </dgm:pt>
    <dgm:pt modelId="{EB54C563-D9FD-41A2-939C-1CC30F0D4734}" type="parTrans" cxnId="{A5FEF3BD-5C4C-4E2B-984E-FD88FD3DCAF9}">
      <dgm:prSet/>
      <dgm:spPr/>
      <dgm:t>
        <a:bodyPr/>
        <a:lstStyle/>
        <a:p>
          <a:endParaRPr lang="en-GB"/>
        </a:p>
      </dgm:t>
    </dgm:pt>
    <dgm:pt modelId="{7F747D88-9F4E-4B5F-955B-616622E3239A}">
      <dgm:prSet custT="1"/>
      <dgm:spPr>
        <a:xfrm>
          <a:off x="3700597" y="-53735"/>
          <a:ext cx="1319798" cy="4041912"/>
        </a:xfrm>
        <a:solidFill>
          <a:schemeClr val="accent5">
            <a:lumMod val="75000"/>
          </a:scheme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Week 5 to week 6</a:t>
          </a:r>
        </a:p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Text Prompt Engineering Techniques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Week 7</a:t>
          </a:r>
          <a:endParaRPr lang="en-US" sz="1400" b="1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Revisions of key learnings, share experience with others, seek clarifications from mentors</a:t>
          </a:r>
          <a:endParaRPr 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C16EDCBD-5F23-4CDD-923B-7E34826B9C24}" type="parTrans" cxnId="{0F5533D5-C52C-4F0D-8312-736DDA698863}">
      <dgm:prSet/>
      <dgm:spPr/>
      <dgm:t>
        <a:bodyPr/>
        <a:lstStyle/>
        <a:p>
          <a:endParaRPr lang="en-IN"/>
        </a:p>
      </dgm:t>
    </dgm:pt>
    <dgm:pt modelId="{0912C664-8430-45EE-AD30-18A12CD80FDC}" type="sibTrans" cxnId="{0F5533D5-C52C-4F0D-8312-736DDA698863}">
      <dgm:prSet/>
      <dgm:spPr/>
      <dgm:t>
        <a:bodyPr/>
        <a:lstStyle/>
        <a:p>
          <a:endParaRPr lang="en-IN"/>
        </a:p>
      </dgm:t>
    </dgm:pt>
    <dgm:pt modelId="{1A046B30-3AFC-4CFC-94F0-72B61947CC87}">
      <dgm:prSet custT="1"/>
      <dgm:spPr>
        <a:xfrm>
          <a:off x="5160" y="0"/>
          <a:ext cx="1319798" cy="3934442"/>
        </a:xfrm>
        <a:solidFill>
          <a:srgbClr val="1668C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algn="l" rtl="0">
            <a:buChar char="•"/>
          </a:pPr>
          <a:r>
            <a:rPr lang="en-US" sz="14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Day 3 – OSM Aviator  – Interactive sessions</a:t>
          </a:r>
        </a:p>
      </dgm:t>
    </dgm:pt>
    <dgm:pt modelId="{958D734A-C2C2-4F0F-8161-041DBB05569A}" type="parTrans" cxnId="{69798969-4C60-486B-B973-3A5BB140C6D8}">
      <dgm:prSet/>
      <dgm:spPr/>
      <dgm:t>
        <a:bodyPr/>
        <a:lstStyle/>
        <a:p>
          <a:endParaRPr lang="en-IN"/>
        </a:p>
      </dgm:t>
    </dgm:pt>
    <dgm:pt modelId="{4B37EE2B-AC37-4898-9B16-1B8C4271AB29}" type="sibTrans" cxnId="{69798969-4C60-486B-B973-3A5BB140C6D8}">
      <dgm:prSet/>
      <dgm:spPr/>
      <dgm:t>
        <a:bodyPr/>
        <a:lstStyle/>
        <a:p>
          <a:endParaRPr lang="en-IN"/>
        </a:p>
      </dgm:t>
    </dgm:pt>
    <dgm:pt modelId="{40A94831-9F9B-478D-975D-8C5FD164D623}">
      <dgm:prSet custT="1"/>
      <dgm:spPr>
        <a:xfrm>
          <a:off x="5160" y="0"/>
          <a:ext cx="1319798" cy="3934442"/>
        </a:xfrm>
        <a:solidFill>
          <a:srgbClr val="1668C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algn="l" rtl="0">
            <a:buChar char="•"/>
          </a:pPr>
          <a:r>
            <a:rPr lang="en-US" sz="14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Day 2 – OT Aviator Solution Overview</a:t>
          </a:r>
        </a:p>
      </dgm:t>
    </dgm:pt>
    <dgm:pt modelId="{BFAB3DD6-DFED-419A-A10F-773791BC6C59}" type="parTrans" cxnId="{5C0EF94D-4E7E-4587-B48C-B13765DDDDCA}">
      <dgm:prSet/>
      <dgm:spPr/>
      <dgm:t>
        <a:bodyPr/>
        <a:lstStyle/>
        <a:p>
          <a:endParaRPr lang="en-IN"/>
        </a:p>
      </dgm:t>
    </dgm:pt>
    <dgm:pt modelId="{03632E24-46D0-4E2E-BE0D-5BEE9CACAD4D}" type="sibTrans" cxnId="{5C0EF94D-4E7E-4587-B48C-B13765DDDDCA}">
      <dgm:prSet/>
      <dgm:spPr/>
      <dgm:t>
        <a:bodyPr/>
        <a:lstStyle/>
        <a:p>
          <a:endParaRPr lang="en-IN"/>
        </a:p>
      </dgm:t>
    </dgm:pt>
    <dgm:pt modelId="{6E5AB352-6B5C-4B8B-9909-A07910461ABA}">
      <dgm:prSet custT="1"/>
      <dgm:spPr>
        <a:xfrm>
          <a:off x="5160" y="0"/>
          <a:ext cx="1319798" cy="3934442"/>
        </a:xfrm>
        <a:prstGeom prst="roundRect">
          <a:avLst>
            <a:gd name="adj" fmla="val 10000"/>
          </a:avLst>
        </a:prstGeom>
        <a:solidFill>
          <a:srgbClr val="1668C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algn="l" rtl="0">
            <a:buChar char="•"/>
          </a:pPr>
          <a:r>
            <a:rPr lang="en-US" sz="14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Day 1 – Enablement overview session</a:t>
          </a:r>
        </a:p>
      </dgm:t>
    </dgm:pt>
    <dgm:pt modelId="{4C9029AE-79A9-41C3-B760-BEAB01AAD700}" type="sibTrans" cxnId="{7F5A69E7-9F31-4845-B73A-A54D26110D14}">
      <dgm:prSet/>
      <dgm:spPr/>
      <dgm:t>
        <a:bodyPr/>
        <a:lstStyle/>
        <a:p>
          <a:endParaRPr lang="en-GB"/>
        </a:p>
      </dgm:t>
    </dgm:pt>
    <dgm:pt modelId="{7610FDBB-1E27-4ADF-AADE-F36C023A77FA}" type="parTrans" cxnId="{7F5A69E7-9F31-4845-B73A-A54D26110D14}">
      <dgm:prSet/>
      <dgm:spPr/>
      <dgm:t>
        <a:bodyPr/>
        <a:lstStyle/>
        <a:p>
          <a:endParaRPr lang="en-GB"/>
        </a:p>
      </dgm:t>
    </dgm:pt>
    <dgm:pt modelId="{70A80C7F-47AF-4DD7-9910-D07347B32CB3}">
      <dgm:prSet custT="1"/>
      <dgm:spPr>
        <a:xfrm>
          <a:off x="1852878" y="-19556"/>
          <a:ext cx="1319798" cy="3973555"/>
        </a:xfrm>
        <a:solidFill>
          <a:srgbClr val="231CA5">
            <a:lumMod val="40000"/>
            <a:lumOff val="60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</a:t>
          </a:r>
        </a:p>
      </dgm:t>
    </dgm:pt>
    <dgm:pt modelId="{B83904E1-4BDA-45AA-AE29-FFE15B850330}" type="parTrans" cxnId="{8693F365-5906-4AF9-9BD8-43A18FF0EF54}">
      <dgm:prSet/>
      <dgm:spPr/>
      <dgm:t>
        <a:bodyPr/>
        <a:lstStyle/>
        <a:p>
          <a:endParaRPr lang="en-IN"/>
        </a:p>
      </dgm:t>
    </dgm:pt>
    <dgm:pt modelId="{4BB1E67F-93D5-43AF-9AF3-7DCC021091D3}" type="sibTrans" cxnId="{8693F365-5906-4AF9-9BD8-43A18FF0EF54}">
      <dgm:prSet/>
      <dgm:spPr/>
      <dgm:t>
        <a:bodyPr/>
        <a:lstStyle/>
        <a:p>
          <a:endParaRPr lang="en-IN"/>
        </a:p>
      </dgm:t>
    </dgm:pt>
    <dgm:pt modelId="{622D6FB7-38B4-4119-9638-24BFCC13AC80}">
      <dgm:prSet custT="1"/>
      <dgm:spPr>
        <a:xfrm>
          <a:off x="5160" y="0"/>
          <a:ext cx="1319798" cy="3934442"/>
        </a:xfrm>
        <a:solidFill>
          <a:srgbClr val="1668C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algn="l" rtl="0">
            <a:buNone/>
          </a:pPr>
          <a:endParaRPr lang="en-US" sz="14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F019A676-06B4-4A4E-A35E-120A37190F89}" type="parTrans" cxnId="{08374771-9F29-47A6-B85E-F3E0BB1A81D9}">
      <dgm:prSet/>
      <dgm:spPr/>
      <dgm:t>
        <a:bodyPr/>
        <a:lstStyle/>
        <a:p>
          <a:endParaRPr lang="en-IN"/>
        </a:p>
      </dgm:t>
    </dgm:pt>
    <dgm:pt modelId="{D7284D5C-0860-41C4-AED1-C7D8526281D1}" type="sibTrans" cxnId="{08374771-9F29-47A6-B85E-F3E0BB1A81D9}">
      <dgm:prSet/>
      <dgm:spPr/>
      <dgm:t>
        <a:bodyPr/>
        <a:lstStyle/>
        <a:p>
          <a:endParaRPr lang="en-IN"/>
        </a:p>
      </dgm:t>
    </dgm:pt>
    <dgm:pt modelId="{261CFB19-A002-4E37-A6F3-1F4C65A52E89}">
      <dgm:prSet custT="1"/>
      <dgm:spPr>
        <a:xfrm>
          <a:off x="5160" y="0"/>
          <a:ext cx="1319798" cy="3934442"/>
        </a:xfrm>
        <a:solidFill>
          <a:srgbClr val="1668C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algn="l" rtl="0">
            <a:buNone/>
          </a:pPr>
          <a:endParaRPr lang="en-US" sz="14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9B4319F0-D6DC-4FC8-A367-C800ADE5B915}" type="parTrans" cxnId="{49778223-118F-4478-905C-14995297F4A9}">
      <dgm:prSet/>
      <dgm:spPr/>
      <dgm:t>
        <a:bodyPr/>
        <a:lstStyle/>
        <a:p>
          <a:endParaRPr lang="en-IN"/>
        </a:p>
      </dgm:t>
    </dgm:pt>
    <dgm:pt modelId="{5C0B033B-7F06-40C1-ADD0-FDC0D6FC5619}" type="sibTrans" cxnId="{49778223-118F-4478-905C-14995297F4A9}">
      <dgm:prSet/>
      <dgm:spPr/>
      <dgm:t>
        <a:bodyPr/>
        <a:lstStyle/>
        <a:p>
          <a:endParaRPr lang="en-IN"/>
        </a:p>
      </dgm:t>
    </dgm:pt>
    <dgm:pt modelId="{267688FF-754E-4415-BA6D-EDB0FA9E2ABB}">
      <dgm:prSet custT="1"/>
      <dgm:spPr>
        <a:xfrm>
          <a:off x="3700597" y="-53735"/>
          <a:ext cx="1319798" cy="4041912"/>
        </a:xfrm>
        <a:solidFill>
          <a:schemeClr val="tx1">
            <a:lumMod val="65000"/>
            <a:lumOff val="35000"/>
          </a:scheme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Week 4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Boost productivity with Gemini in </a:t>
          </a:r>
          <a:r>
            <a:rPr lang="en-US" sz="1400" b="1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BigQuery</a:t>
          </a:r>
          <a:endParaRPr 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D16F573F-BE89-4FFD-8049-239921DD10FD}" type="parTrans" cxnId="{68C2ED33-EBBB-41F8-8121-871062B4126D}">
      <dgm:prSet/>
      <dgm:spPr/>
      <dgm:t>
        <a:bodyPr/>
        <a:lstStyle/>
        <a:p>
          <a:endParaRPr lang="en-IN"/>
        </a:p>
      </dgm:t>
    </dgm:pt>
    <dgm:pt modelId="{5E4923E8-DCCF-459F-A549-BD6A163E19A8}" type="sibTrans" cxnId="{68C2ED33-EBBB-41F8-8121-871062B4126D}">
      <dgm:prSet/>
      <dgm:spPr/>
      <dgm:t>
        <a:bodyPr/>
        <a:lstStyle/>
        <a:p>
          <a:endParaRPr lang="en-IN"/>
        </a:p>
      </dgm:t>
    </dgm:pt>
    <dgm:pt modelId="{75CC9D6C-CE04-4858-A927-62B76B384441}">
      <dgm:prSet custT="1"/>
      <dgm:spPr>
        <a:xfrm>
          <a:off x="3700597" y="-53735"/>
          <a:ext cx="1319798" cy="4041912"/>
        </a:xfrm>
        <a:solidFill>
          <a:schemeClr val="tx1">
            <a:lumMod val="65000"/>
            <a:lumOff val="35000"/>
          </a:scheme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Day 2 -  Introduction to responsible AI</a:t>
          </a:r>
        </a:p>
      </dgm:t>
    </dgm:pt>
    <dgm:pt modelId="{F6A168B6-63CD-4097-A379-2C4170038E64}" type="parTrans" cxnId="{1C4D6330-6188-4477-BA15-EFC58285B28C}">
      <dgm:prSet/>
      <dgm:spPr/>
      <dgm:t>
        <a:bodyPr/>
        <a:lstStyle/>
        <a:p>
          <a:endParaRPr lang="en-IN"/>
        </a:p>
      </dgm:t>
    </dgm:pt>
    <dgm:pt modelId="{6B582D77-1173-4A78-88EC-90C306FDBD4D}" type="sibTrans" cxnId="{1C4D6330-6188-4477-BA15-EFC58285B28C}">
      <dgm:prSet/>
      <dgm:spPr/>
      <dgm:t>
        <a:bodyPr/>
        <a:lstStyle/>
        <a:p>
          <a:endParaRPr lang="en-IN"/>
        </a:p>
      </dgm:t>
    </dgm:pt>
    <dgm:pt modelId="{8488CEBA-9E2D-440A-984B-F74662AC5FAF}">
      <dgm:prSet custT="1"/>
      <dgm:spPr>
        <a:xfrm>
          <a:off x="3700597" y="-53735"/>
          <a:ext cx="1319798" cy="4041912"/>
        </a:xfrm>
        <a:solidFill>
          <a:schemeClr val="tx1">
            <a:lumMod val="65000"/>
            <a:lumOff val="35000"/>
          </a:scheme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gm:spPr>
      <dgm:t>
        <a:bodyPr/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Day 3 – Applying AI principles with Google cloud</a:t>
          </a:r>
        </a:p>
      </dgm:t>
    </dgm:pt>
    <dgm:pt modelId="{12F82014-AD65-4EAD-9FAD-EB8CF0A6CCBF}" type="parTrans" cxnId="{6BE945A2-875C-45A9-9148-613CA2DDEFB1}">
      <dgm:prSet/>
      <dgm:spPr/>
      <dgm:t>
        <a:bodyPr/>
        <a:lstStyle/>
        <a:p>
          <a:endParaRPr lang="en-IN"/>
        </a:p>
      </dgm:t>
    </dgm:pt>
    <dgm:pt modelId="{EB72932B-771E-4558-9E72-495F04A27A4C}" type="sibTrans" cxnId="{6BE945A2-875C-45A9-9148-613CA2DDEFB1}">
      <dgm:prSet/>
      <dgm:spPr/>
      <dgm:t>
        <a:bodyPr/>
        <a:lstStyle/>
        <a:p>
          <a:endParaRPr lang="en-IN"/>
        </a:p>
      </dgm:t>
    </dgm:pt>
    <dgm:pt modelId="{F4C26806-30D6-4D11-9FEF-40227ABE94FC}" type="pres">
      <dgm:prSet presAssocID="{DCDD0292-5A2F-4382-BE7E-791B92D5C662}" presName="Name0" presStyleCnt="0">
        <dgm:presLayoutVars>
          <dgm:dir/>
          <dgm:resizeHandles val="exact"/>
        </dgm:presLayoutVars>
      </dgm:prSet>
      <dgm:spPr/>
    </dgm:pt>
    <dgm:pt modelId="{977553C7-365E-43F3-8A42-A1D8943DBABE}" type="pres">
      <dgm:prSet presAssocID="{5E864631-C1DD-4980-B100-4DA065405BE1}" presName="node" presStyleLbl="node1" presStyleIdx="0" presStyleCnt="5" custScaleY="148269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F759109F-83AB-4253-9308-879929476A99}" type="pres">
      <dgm:prSet presAssocID="{25600736-CDC3-49A6-8D00-8215FCD55F8C}" presName="sibTrans" presStyleLbl="sibTrans2D1" presStyleIdx="0" presStyleCnt="4"/>
      <dgm:spPr/>
    </dgm:pt>
    <dgm:pt modelId="{802DD7B6-72E0-49C7-8470-80DE7E462492}" type="pres">
      <dgm:prSet presAssocID="{25600736-CDC3-49A6-8D00-8215FCD55F8C}" presName="connectorText" presStyleLbl="sibTrans2D1" presStyleIdx="0" presStyleCnt="4"/>
      <dgm:spPr/>
    </dgm:pt>
    <dgm:pt modelId="{32FD9EE8-F418-4374-AAB1-44EABF94C5EC}" type="pres">
      <dgm:prSet presAssocID="{3FDEB1CA-0DEB-4D34-879E-C7003357DD92}" presName="node" presStyleLbl="node1" presStyleIdx="1" presStyleCnt="5" custScaleY="149743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52906483-8EFB-4D09-88FD-342FB3A12CCE}" type="pres">
      <dgm:prSet presAssocID="{E9AA52F9-8BD4-477C-844B-7CAA2610DAF0}" presName="sibTrans" presStyleLbl="sibTrans2D1" presStyleIdx="1" presStyleCnt="4"/>
      <dgm:spPr/>
    </dgm:pt>
    <dgm:pt modelId="{A21BFA2F-8F9C-43BB-BCD9-71590936129A}" type="pres">
      <dgm:prSet presAssocID="{E9AA52F9-8BD4-477C-844B-7CAA2610DAF0}" presName="connectorText" presStyleLbl="sibTrans2D1" presStyleIdx="1" presStyleCnt="4"/>
      <dgm:spPr/>
    </dgm:pt>
    <dgm:pt modelId="{A4C3063F-9B2F-43E2-B96A-C167F03F9726}" type="pres">
      <dgm:prSet presAssocID="{AA5D55FC-687C-4059-83E8-1EE1693C0005}" presName="node" presStyleLbl="node1" presStyleIdx="2" presStyleCnt="5" custScaleY="152319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02156A78-8C05-43C1-8F90-FB3102C72816}" type="pres">
      <dgm:prSet presAssocID="{F1E4EF75-7F4E-416E-89DA-C62A13893E92}" presName="sibTrans" presStyleLbl="sibTrans2D1" presStyleIdx="2" presStyleCnt="4"/>
      <dgm:spPr/>
    </dgm:pt>
    <dgm:pt modelId="{6AC9C2D2-4AE4-4A95-99DE-F0B84B08C46D}" type="pres">
      <dgm:prSet presAssocID="{F1E4EF75-7F4E-416E-89DA-C62A13893E92}" presName="connectorText" presStyleLbl="sibTrans2D1" presStyleIdx="2" presStyleCnt="4"/>
      <dgm:spPr/>
    </dgm:pt>
    <dgm:pt modelId="{1771DE93-B51A-4BC4-8714-047C296375B6}" type="pres">
      <dgm:prSet presAssocID="{7F747D88-9F4E-4B5F-955B-616622E3239A}" presName="node" presStyleLbl="node1" presStyleIdx="3" presStyleCnt="5" custScaleY="148269" custLinFactNeighborX="-1604" custLinFactNeighborY="-436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C4AACA2C-1F82-4F2F-ADFD-6F2940786AA0}" type="pres">
      <dgm:prSet presAssocID="{0912C664-8430-45EE-AD30-18A12CD80FDC}" presName="sibTrans" presStyleLbl="sibTrans2D1" presStyleIdx="3" presStyleCnt="4"/>
      <dgm:spPr/>
    </dgm:pt>
    <dgm:pt modelId="{D4BB8B9E-BB57-4554-BA12-405F86697C53}" type="pres">
      <dgm:prSet presAssocID="{0912C664-8430-45EE-AD30-18A12CD80FDC}" presName="connectorText" presStyleLbl="sibTrans2D1" presStyleIdx="3" presStyleCnt="4"/>
      <dgm:spPr/>
    </dgm:pt>
    <dgm:pt modelId="{AD612120-0DF3-4A66-9622-AEF3A6A9095E}" type="pres">
      <dgm:prSet presAssocID="{029B4AEA-DEAF-4F7F-A0F2-31631F59786B}" presName="node" presStyleLbl="node1" presStyleIdx="4" presStyleCnt="5" custScaleX="86589" custScaleY="148269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</dgm:ptLst>
  <dgm:cxnLst>
    <dgm:cxn modelId="{91B8C901-C407-40DB-A64A-E52C0C116DF3}" type="presOf" srcId="{75CC9D6C-CE04-4858-A927-62B76B384441}" destId="{A4C3063F-9B2F-43E2-B96A-C167F03F9726}" srcOrd="0" destOrd="1" presId="urn:microsoft.com/office/officeart/2005/8/layout/process1"/>
    <dgm:cxn modelId="{E6B83809-F29A-4219-AAA9-03DBB0C6191B}" type="presOf" srcId="{25600736-CDC3-49A6-8D00-8215FCD55F8C}" destId="{F759109F-83AB-4253-9308-879929476A99}" srcOrd="0" destOrd="0" presId="urn:microsoft.com/office/officeart/2005/8/layout/process1"/>
    <dgm:cxn modelId="{037EAD0C-6573-4BE4-8AD2-625101E44945}" type="presOf" srcId="{40A94831-9F9B-478D-975D-8C5FD164D623}" destId="{977553C7-365E-43F3-8A42-A1D8943DBABE}" srcOrd="0" destOrd="3" presId="urn:microsoft.com/office/officeart/2005/8/layout/process1"/>
    <dgm:cxn modelId="{E5DFF018-EC79-4504-9E08-A39DE1A9D341}" type="presOf" srcId="{261CFB19-A002-4E37-A6F3-1F4C65A52E89}" destId="{977553C7-365E-43F3-8A42-A1D8943DBABE}" srcOrd="0" destOrd="4" presId="urn:microsoft.com/office/officeart/2005/8/layout/process1"/>
    <dgm:cxn modelId="{C977661F-DC15-4F53-867E-96FDD82DB152}" type="presOf" srcId="{2EF724D7-B3ED-4EB1-B9CD-F3A822EBFE12}" destId="{32FD9EE8-F418-4374-AAB1-44EABF94C5EC}" srcOrd="0" destOrd="1" presId="urn:microsoft.com/office/officeart/2005/8/layout/process1"/>
    <dgm:cxn modelId="{E3EB2423-821D-4D64-B2F3-987FD011092F}" type="presOf" srcId="{1A046B30-3AFC-4CFC-94F0-72B61947CC87}" destId="{977553C7-365E-43F3-8A42-A1D8943DBABE}" srcOrd="0" destOrd="5" presId="urn:microsoft.com/office/officeart/2005/8/layout/process1"/>
    <dgm:cxn modelId="{49778223-118F-4478-905C-14995297F4A9}" srcId="{5E864631-C1DD-4980-B100-4DA065405BE1}" destId="{261CFB19-A002-4E37-A6F3-1F4C65A52E89}" srcOrd="3" destOrd="0" parTransId="{9B4319F0-D6DC-4FC8-A367-C800ADE5B915}" sibTransId="{5C0B033B-7F06-40C1-ADD0-FDC0D6FC5619}"/>
    <dgm:cxn modelId="{9D439823-E780-4023-951B-1F8A6DF9477B}" srcId="{DCDD0292-5A2F-4382-BE7E-791B92D5C662}" destId="{3FDEB1CA-0DEB-4D34-879E-C7003357DD92}" srcOrd="1" destOrd="0" parTransId="{14577933-3B3B-4EF7-9170-9164C64B929E}" sibTransId="{E9AA52F9-8BD4-477C-844B-7CAA2610DAF0}"/>
    <dgm:cxn modelId="{3D455029-F89A-4557-B93C-5E25706A5794}" type="presOf" srcId="{7F747D88-9F4E-4B5F-955B-616622E3239A}" destId="{1771DE93-B51A-4BC4-8714-047C296375B6}" srcOrd="0" destOrd="0" presId="urn:microsoft.com/office/officeart/2005/8/layout/process1"/>
    <dgm:cxn modelId="{B6E65E2B-92B4-451B-8096-159FE56A3BAF}" type="presOf" srcId="{E9AA52F9-8BD4-477C-844B-7CAA2610DAF0}" destId="{52906483-8EFB-4D09-88FD-342FB3A12CCE}" srcOrd="0" destOrd="0" presId="urn:microsoft.com/office/officeart/2005/8/layout/process1"/>
    <dgm:cxn modelId="{1C4D6330-6188-4477-BA15-EFC58285B28C}" srcId="{AA5D55FC-687C-4059-83E8-1EE1693C0005}" destId="{75CC9D6C-CE04-4858-A927-62B76B384441}" srcOrd="0" destOrd="0" parTransId="{F6A168B6-63CD-4097-A379-2C4170038E64}" sibTransId="{6B582D77-1173-4A78-88EC-90C306FDBD4D}"/>
    <dgm:cxn modelId="{68C2ED33-EBBB-41F8-8121-871062B4126D}" srcId="{AA5D55FC-687C-4059-83E8-1EE1693C0005}" destId="{267688FF-754E-4415-BA6D-EDB0FA9E2ABB}" srcOrd="2" destOrd="0" parTransId="{D16F573F-BE89-4FFD-8049-239921DD10FD}" sibTransId="{5E4923E8-DCCF-459F-A549-BD6A163E19A8}"/>
    <dgm:cxn modelId="{8693F365-5906-4AF9-9BD8-43A18FF0EF54}" srcId="{3FDEB1CA-0DEB-4D34-879E-C7003357DD92}" destId="{70A80C7F-47AF-4DD7-9910-D07347B32CB3}" srcOrd="1" destOrd="0" parTransId="{B83904E1-4BDA-45AA-AE29-FFE15B850330}" sibTransId="{4BB1E67F-93D5-43AF-9AF3-7DCC021091D3}"/>
    <dgm:cxn modelId="{69798969-4C60-486B-B973-3A5BB140C6D8}" srcId="{5E864631-C1DD-4980-B100-4DA065405BE1}" destId="{1A046B30-3AFC-4CFC-94F0-72B61947CC87}" srcOrd="4" destOrd="0" parTransId="{958D734A-C2C2-4F0F-8161-041DBB05569A}" sibTransId="{4B37EE2B-AC37-4898-9B16-1B8C4271AB29}"/>
    <dgm:cxn modelId="{0C72F44A-A949-4F18-9FB4-A45F766D99D9}" type="presOf" srcId="{622D6FB7-38B4-4119-9638-24BFCC13AC80}" destId="{977553C7-365E-43F3-8A42-A1D8943DBABE}" srcOrd="0" destOrd="2" presId="urn:microsoft.com/office/officeart/2005/8/layout/process1"/>
    <dgm:cxn modelId="{5C0EF94D-4E7E-4587-B48C-B13765DDDDCA}" srcId="{5E864631-C1DD-4980-B100-4DA065405BE1}" destId="{40A94831-9F9B-478D-975D-8C5FD164D623}" srcOrd="2" destOrd="0" parTransId="{BFAB3DD6-DFED-419A-A10F-773791BC6C59}" sibTransId="{03632E24-46D0-4E2E-BE0D-5BEE9CACAD4D}"/>
    <dgm:cxn modelId="{A9DC3E51-948A-40B5-ADDF-100218B521FC}" type="presOf" srcId="{8488CEBA-9E2D-440A-984B-F74662AC5FAF}" destId="{A4C3063F-9B2F-43E2-B96A-C167F03F9726}" srcOrd="0" destOrd="2" presId="urn:microsoft.com/office/officeart/2005/8/layout/process1"/>
    <dgm:cxn modelId="{08374771-9F29-47A6-B85E-F3E0BB1A81D9}" srcId="{5E864631-C1DD-4980-B100-4DA065405BE1}" destId="{622D6FB7-38B4-4119-9638-24BFCC13AC80}" srcOrd="1" destOrd="0" parTransId="{F019A676-06B4-4A4E-A35E-120A37190F89}" sibTransId="{D7284D5C-0860-41C4-AED1-C7D8526281D1}"/>
    <dgm:cxn modelId="{809B9E74-DD70-4127-A71B-F9A15ECE4A5E}" type="presOf" srcId="{267688FF-754E-4415-BA6D-EDB0FA9E2ABB}" destId="{A4C3063F-9B2F-43E2-B96A-C167F03F9726}" srcOrd="0" destOrd="3" presId="urn:microsoft.com/office/officeart/2005/8/layout/process1"/>
    <dgm:cxn modelId="{CD6F9776-845C-40DA-BE83-0DD0D368896F}" type="presOf" srcId="{5E864631-C1DD-4980-B100-4DA065405BE1}" destId="{977553C7-365E-43F3-8A42-A1D8943DBABE}" srcOrd="0" destOrd="0" presId="urn:microsoft.com/office/officeart/2005/8/layout/process1"/>
    <dgm:cxn modelId="{E857CA77-8FA6-4BC0-A36D-F58E34C8C811}" type="presOf" srcId="{AA5D55FC-687C-4059-83E8-1EE1693C0005}" destId="{A4C3063F-9B2F-43E2-B96A-C167F03F9726}" srcOrd="0" destOrd="0" presId="urn:microsoft.com/office/officeart/2005/8/layout/process1"/>
    <dgm:cxn modelId="{F6341858-84D7-46B8-B189-52E31C21461B}" srcId="{DCDD0292-5A2F-4382-BE7E-791B92D5C662}" destId="{AA5D55FC-687C-4059-83E8-1EE1693C0005}" srcOrd="2" destOrd="0" parTransId="{CB0A31D9-97D9-433A-B30A-858B0A2D1F81}" sibTransId="{F1E4EF75-7F4E-416E-89DA-C62A13893E92}"/>
    <dgm:cxn modelId="{C662937A-4511-4BBE-A539-A38B0E8931BF}" type="presOf" srcId="{F1E4EF75-7F4E-416E-89DA-C62A13893E92}" destId="{6AC9C2D2-4AE4-4A95-99DE-F0B84B08C46D}" srcOrd="1" destOrd="0" presId="urn:microsoft.com/office/officeart/2005/8/layout/process1"/>
    <dgm:cxn modelId="{E4601086-18B1-445A-B5CB-068F30386FD3}" type="presOf" srcId="{6E5AB352-6B5C-4B8B-9909-A07910461ABA}" destId="{977553C7-365E-43F3-8A42-A1D8943DBABE}" srcOrd="0" destOrd="1" presId="urn:microsoft.com/office/officeart/2005/8/layout/process1"/>
    <dgm:cxn modelId="{EBAE3F8C-F57D-4F8B-BD73-E6A03F77D178}" type="presOf" srcId="{0912C664-8430-45EE-AD30-18A12CD80FDC}" destId="{C4AACA2C-1F82-4F2F-ADFD-6F2940786AA0}" srcOrd="0" destOrd="0" presId="urn:microsoft.com/office/officeart/2005/8/layout/process1"/>
    <dgm:cxn modelId="{0006448C-504F-40D5-87C0-6BDFEAF38021}" type="presOf" srcId="{DCDD0292-5A2F-4382-BE7E-791B92D5C662}" destId="{F4C26806-30D6-4D11-9FEF-40227ABE94FC}" srcOrd="0" destOrd="0" presId="urn:microsoft.com/office/officeart/2005/8/layout/process1"/>
    <dgm:cxn modelId="{6BC16498-F9F5-480A-98F5-183C4438D15D}" type="presOf" srcId="{70A80C7F-47AF-4DD7-9910-D07347B32CB3}" destId="{32FD9EE8-F418-4374-AAB1-44EABF94C5EC}" srcOrd="0" destOrd="2" presId="urn:microsoft.com/office/officeart/2005/8/layout/process1"/>
    <dgm:cxn modelId="{C77A1AA0-4EA2-4F03-B6C5-D9F6ED90FDA5}" type="presOf" srcId="{029B4AEA-DEAF-4F7F-A0F2-31631F59786B}" destId="{AD612120-0DF3-4A66-9622-AEF3A6A9095E}" srcOrd="0" destOrd="0" presId="urn:microsoft.com/office/officeart/2005/8/layout/process1"/>
    <dgm:cxn modelId="{6BE945A2-875C-45A9-9148-613CA2DDEFB1}" srcId="{AA5D55FC-687C-4059-83E8-1EE1693C0005}" destId="{8488CEBA-9E2D-440A-984B-F74662AC5FAF}" srcOrd="1" destOrd="0" parTransId="{12F82014-AD65-4EAD-9FAD-EB8CF0A6CCBF}" sibTransId="{EB72932B-771E-4558-9E72-495F04A27A4C}"/>
    <dgm:cxn modelId="{3C79DEB2-E572-4907-8AF8-E420C78D3F2A}" srcId="{DCDD0292-5A2F-4382-BE7E-791B92D5C662}" destId="{5E864631-C1DD-4980-B100-4DA065405BE1}" srcOrd="0" destOrd="0" parTransId="{5D43C209-6D44-4079-8AED-1F0027C152B1}" sibTransId="{25600736-CDC3-49A6-8D00-8215FCD55F8C}"/>
    <dgm:cxn modelId="{5A5B6EBC-A5F5-45D9-967A-CA340AE71D8C}" type="presOf" srcId="{F1E4EF75-7F4E-416E-89DA-C62A13893E92}" destId="{02156A78-8C05-43C1-8F90-FB3102C72816}" srcOrd="0" destOrd="0" presId="urn:microsoft.com/office/officeart/2005/8/layout/process1"/>
    <dgm:cxn modelId="{A5FEF3BD-5C4C-4E2B-984E-FD88FD3DCAF9}" srcId="{3FDEB1CA-0DEB-4D34-879E-C7003357DD92}" destId="{2EF724D7-B3ED-4EB1-B9CD-F3A822EBFE12}" srcOrd="0" destOrd="0" parTransId="{EB54C563-D9FD-41A2-939C-1CC30F0D4734}" sibTransId="{C6540651-9219-440C-8F2C-467257FC37EA}"/>
    <dgm:cxn modelId="{24E771C4-C090-44C0-81AB-6680FA0BFD6B}" srcId="{DCDD0292-5A2F-4382-BE7E-791B92D5C662}" destId="{029B4AEA-DEAF-4F7F-A0F2-31631F59786B}" srcOrd="4" destOrd="0" parTransId="{D995EA08-B2D7-46E8-ADBE-1414A3AB9F3F}" sibTransId="{08C09F11-7EBE-422B-9E01-6E50D7B67E57}"/>
    <dgm:cxn modelId="{CAFC7DC5-9AD5-48E8-80CA-B152C1C7E544}" type="presOf" srcId="{25600736-CDC3-49A6-8D00-8215FCD55F8C}" destId="{802DD7B6-72E0-49C7-8470-80DE7E462492}" srcOrd="1" destOrd="0" presId="urn:microsoft.com/office/officeart/2005/8/layout/process1"/>
    <dgm:cxn modelId="{0F5533D5-C52C-4F0D-8312-736DDA698863}" srcId="{DCDD0292-5A2F-4382-BE7E-791B92D5C662}" destId="{7F747D88-9F4E-4B5F-955B-616622E3239A}" srcOrd="3" destOrd="0" parTransId="{C16EDCBD-5F23-4CDD-923B-7E34826B9C24}" sibTransId="{0912C664-8430-45EE-AD30-18A12CD80FDC}"/>
    <dgm:cxn modelId="{72A3E7DD-37AA-4E60-8A8F-8845EFB45A73}" type="presOf" srcId="{E9AA52F9-8BD4-477C-844B-7CAA2610DAF0}" destId="{A21BFA2F-8F9C-43BB-BCD9-71590936129A}" srcOrd="1" destOrd="0" presId="urn:microsoft.com/office/officeart/2005/8/layout/process1"/>
    <dgm:cxn modelId="{A8F765E5-F3FA-41E5-89E3-7BF8584E6DEC}" type="presOf" srcId="{0912C664-8430-45EE-AD30-18A12CD80FDC}" destId="{D4BB8B9E-BB57-4554-BA12-405F86697C53}" srcOrd="1" destOrd="0" presId="urn:microsoft.com/office/officeart/2005/8/layout/process1"/>
    <dgm:cxn modelId="{7F5A69E7-9F31-4845-B73A-A54D26110D14}" srcId="{5E864631-C1DD-4980-B100-4DA065405BE1}" destId="{6E5AB352-6B5C-4B8B-9909-A07910461ABA}" srcOrd="0" destOrd="0" parTransId="{7610FDBB-1E27-4ADF-AADE-F36C023A77FA}" sibTransId="{4C9029AE-79A9-41C3-B760-BEAB01AAD700}"/>
    <dgm:cxn modelId="{2213B1EC-C7B1-47BF-BAF4-FDF9FAF5F72A}" type="presOf" srcId="{3FDEB1CA-0DEB-4D34-879E-C7003357DD92}" destId="{32FD9EE8-F418-4374-AAB1-44EABF94C5EC}" srcOrd="0" destOrd="0" presId="urn:microsoft.com/office/officeart/2005/8/layout/process1"/>
    <dgm:cxn modelId="{4B22EA81-5D8E-4C9C-A557-BF40F143AF56}" type="presParOf" srcId="{F4C26806-30D6-4D11-9FEF-40227ABE94FC}" destId="{977553C7-365E-43F3-8A42-A1D8943DBABE}" srcOrd="0" destOrd="0" presId="urn:microsoft.com/office/officeart/2005/8/layout/process1"/>
    <dgm:cxn modelId="{A521AE61-AC32-4D39-909E-D6A61A285D69}" type="presParOf" srcId="{F4C26806-30D6-4D11-9FEF-40227ABE94FC}" destId="{F759109F-83AB-4253-9308-879929476A99}" srcOrd="1" destOrd="0" presId="urn:microsoft.com/office/officeart/2005/8/layout/process1"/>
    <dgm:cxn modelId="{5CA6A495-7D34-4996-AE06-541F4BD46560}" type="presParOf" srcId="{F759109F-83AB-4253-9308-879929476A99}" destId="{802DD7B6-72E0-49C7-8470-80DE7E462492}" srcOrd="0" destOrd="0" presId="urn:microsoft.com/office/officeart/2005/8/layout/process1"/>
    <dgm:cxn modelId="{CB8C3554-564F-40BC-93B8-01D3D05CC131}" type="presParOf" srcId="{F4C26806-30D6-4D11-9FEF-40227ABE94FC}" destId="{32FD9EE8-F418-4374-AAB1-44EABF94C5EC}" srcOrd="2" destOrd="0" presId="urn:microsoft.com/office/officeart/2005/8/layout/process1"/>
    <dgm:cxn modelId="{B7817F17-FF38-4278-9CE2-FAB75F2DC890}" type="presParOf" srcId="{F4C26806-30D6-4D11-9FEF-40227ABE94FC}" destId="{52906483-8EFB-4D09-88FD-342FB3A12CCE}" srcOrd="3" destOrd="0" presId="urn:microsoft.com/office/officeart/2005/8/layout/process1"/>
    <dgm:cxn modelId="{8389FD1C-8AFE-4E4D-A66E-57AFDD2E973F}" type="presParOf" srcId="{52906483-8EFB-4D09-88FD-342FB3A12CCE}" destId="{A21BFA2F-8F9C-43BB-BCD9-71590936129A}" srcOrd="0" destOrd="0" presId="urn:microsoft.com/office/officeart/2005/8/layout/process1"/>
    <dgm:cxn modelId="{8E626350-9D89-47E5-9705-1BA79C0C09D3}" type="presParOf" srcId="{F4C26806-30D6-4D11-9FEF-40227ABE94FC}" destId="{A4C3063F-9B2F-43E2-B96A-C167F03F9726}" srcOrd="4" destOrd="0" presId="urn:microsoft.com/office/officeart/2005/8/layout/process1"/>
    <dgm:cxn modelId="{FC3953E9-2E2E-4019-B36E-34D02C7C2D32}" type="presParOf" srcId="{F4C26806-30D6-4D11-9FEF-40227ABE94FC}" destId="{02156A78-8C05-43C1-8F90-FB3102C72816}" srcOrd="5" destOrd="0" presId="urn:microsoft.com/office/officeart/2005/8/layout/process1"/>
    <dgm:cxn modelId="{7ECAD6CF-B015-4F84-BAE5-6021BE901D2E}" type="presParOf" srcId="{02156A78-8C05-43C1-8F90-FB3102C72816}" destId="{6AC9C2D2-4AE4-4A95-99DE-F0B84B08C46D}" srcOrd="0" destOrd="0" presId="urn:microsoft.com/office/officeart/2005/8/layout/process1"/>
    <dgm:cxn modelId="{3C1E7894-57AC-44B9-8E6A-FF4EB3903569}" type="presParOf" srcId="{F4C26806-30D6-4D11-9FEF-40227ABE94FC}" destId="{1771DE93-B51A-4BC4-8714-047C296375B6}" srcOrd="6" destOrd="0" presId="urn:microsoft.com/office/officeart/2005/8/layout/process1"/>
    <dgm:cxn modelId="{5E99FDF3-6800-4009-AB0E-CE1FDF6F454B}" type="presParOf" srcId="{F4C26806-30D6-4D11-9FEF-40227ABE94FC}" destId="{C4AACA2C-1F82-4F2F-ADFD-6F2940786AA0}" srcOrd="7" destOrd="0" presId="urn:microsoft.com/office/officeart/2005/8/layout/process1"/>
    <dgm:cxn modelId="{42BE18A0-7C87-4D7B-9652-CC27B74FCCA0}" type="presParOf" srcId="{C4AACA2C-1F82-4F2F-ADFD-6F2940786AA0}" destId="{D4BB8B9E-BB57-4554-BA12-405F86697C53}" srcOrd="0" destOrd="0" presId="urn:microsoft.com/office/officeart/2005/8/layout/process1"/>
    <dgm:cxn modelId="{D5B8B851-8FCB-4FAD-8080-8868FB1265A3}" type="presParOf" srcId="{F4C26806-30D6-4D11-9FEF-40227ABE94FC}" destId="{AD612120-0DF3-4A66-9622-AEF3A6A9095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5073F-135C-42B9-B53C-DF22712001E0}">
      <dsp:nvSpPr>
        <dsp:cNvPr id="0" name=""/>
        <dsp:cNvSpPr/>
      </dsp:nvSpPr>
      <dsp:spPr>
        <a:xfrm rot="5400000">
          <a:off x="1777463" y="1050344"/>
          <a:ext cx="1812412" cy="301581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0DEBD-73D2-4F43-A2C5-429984EAC553}">
      <dsp:nvSpPr>
        <dsp:cNvPr id="0" name=""/>
        <dsp:cNvSpPr/>
      </dsp:nvSpPr>
      <dsp:spPr>
        <a:xfrm>
          <a:off x="1474927" y="1951422"/>
          <a:ext cx="2722693" cy="2386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Phase 1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Goal: </a:t>
          </a:r>
          <a:r>
            <a:rPr lang="en-IN" sz="1200" b="1" kern="1200" dirty="0"/>
            <a:t>General AI Awareness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Plan: Provide </a:t>
          </a:r>
          <a:r>
            <a:rPr lang="en-IN" sz="1200" b="1" kern="1200" dirty="0"/>
            <a:t>basic knowledge </a:t>
          </a:r>
          <a:r>
            <a:rPr lang="en-IN" sz="1200" kern="1200" dirty="0"/>
            <a:t>of AI and OT ODC Aviators through </a:t>
          </a:r>
          <a:r>
            <a:rPr lang="en-IN" sz="1200" b="1" kern="1200" dirty="0"/>
            <a:t>online self learning </a:t>
          </a:r>
          <a:r>
            <a:rPr lang="en-IN" sz="1200" kern="1200" dirty="0"/>
            <a:t>as per recommended curriculum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Duration: </a:t>
          </a:r>
          <a:r>
            <a:rPr lang="en-IN" sz="1200" b="1" kern="1200" dirty="0"/>
            <a:t>2 months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0" kern="1200" dirty="0"/>
            <a:t>Timeline: M3Q1 to M1Q2 (Sept, Oct 2025)</a:t>
          </a:r>
        </a:p>
      </dsp:txBody>
      <dsp:txXfrm>
        <a:off x="1474927" y="1951422"/>
        <a:ext cx="2722693" cy="2386600"/>
      </dsp:txXfrm>
    </dsp:sp>
    <dsp:sp modelId="{554A2B59-7B38-47AB-B4F2-6D5C01BD3A34}">
      <dsp:nvSpPr>
        <dsp:cNvPr id="0" name=""/>
        <dsp:cNvSpPr/>
      </dsp:nvSpPr>
      <dsp:spPr>
        <a:xfrm>
          <a:off x="3683904" y="828316"/>
          <a:ext cx="513715" cy="51371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17104-6309-4849-AE35-459112B6B036}">
      <dsp:nvSpPr>
        <dsp:cNvPr id="0" name=""/>
        <dsp:cNvSpPr/>
      </dsp:nvSpPr>
      <dsp:spPr>
        <a:xfrm rot="5400000">
          <a:off x="5110572" y="225563"/>
          <a:ext cx="1812412" cy="301581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8391C-8E13-4447-B7D6-75D256D50708}">
      <dsp:nvSpPr>
        <dsp:cNvPr id="0" name=""/>
        <dsp:cNvSpPr/>
      </dsp:nvSpPr>
      <dsp:spPr>
        <a:xfrm>
          <a:off x="4808035" y="1126641"/>
          <a:ext cx="2722693" cy="2386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Phase 2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Goal: </a:t>
          </a:r>
          <a:r>
            <a:rPr lang="en-IN" sz="1200" b="1" kern="1200" dirty="0"/>
            <a:t>Design and deliver OT ODC Aviator solution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Plan: </a:t>
          </a:r>
          <a:r>
            <a:rPr lang="en-IN" sz="1200" b="1" kern="1200" dirty="0"/>
            <a:t>In depth portfolio specific learning</a:t>
          </a:r>
          <a:r>
            <a:rPr lang="en-IN" sz="1200" kern="1200" dirty="0"/>
            <a:t> of OT Aviator solution through instructor led classroom sessions, Shadow projects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Duration: </a:t>
          </a:r>
          <a:r>
            <a:rPr lang="en-IN" sz="1200" b="1" kern="1200" dirty="0"/>
            <a:t>2 months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b="0" kern="1200" dirty="0"/>
            <a:t>Timeline: M3Q2 to early M1Q3 (Dec 2025, Jan 2026)</a:t>
          </a:r>
        </a:p>
      </dsp:txBody>
      <dsp:txXfrm>
        <a:off x="4808035" y="1126641"/>
        <a:ext cx="2722693" cy="2386600"/>
      </dsp:txXfrm>
    </dsp:sp>
    <dsp:sp modelId="{EED8BC7F-516C-40DA-9929-27B98A2DA325}">
      <dsp:nvSpPr>
        <dsp:cNvPr id="0" name=""/>
        <dsp:cNvSpPr/>
      </dsp:nvSpPr>
      <dsp:spPr>
        <a:xfrm>
          <a:off x="7017012" y="3535"/>
          <a:ext cx="513715" cy="51371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E40A8-28E9-47CF-BFC6-D796069C6F9D}">
      <dsp:nvSpPr>
        <dsp:cNvPr id="0" name=""/>
        <dsp:cNvSpPr/>
      </dsp:nvSpPr>
      <dsp:spPr>
        <a:xfrm rot="5400000">
          <a:off x="8443680" y="-599217"/>
          <a:ext cx="1812412" cy="3015813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DAFE9-804E-4A15-96DD-DC7EC65AF4A0}">
      <dsp:nvSpPr>
        <dsp:cNvPr id="0" name=""/>
        <dsp:cNvSpPr/>
      </dsp:nvSpPr>
      <dsp:spPr>
        <a:xfrm>
          <a:off x="8141143" y="301860"/>
          <a:ext cx="2722693" cy="2386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Phase 3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Goal: </a:t>
          </a:r>
          <a:r>
            <a:rPr lang="en-IN" sz="1200" b="1" kern="1200" dirty="0"/>
            <a:t>B</a:t>
          </a:r>
          <a:r>
            <a:rPr lang="en-US" sz="1200" b="1" kern="1200" dirty="0" err="1"/>
            <a:t>uild</a:t>
          </a:r>
          <a:r>
            <a:rPr lang="en-US" sz="1200" b="1" kern="1200" dirty="0"/>
            <a:t> new use cases and AI applications</a:t>
          </a:r>
          <a:r>
            <a:rPr lang="en-US" sz="1200" kern="1200" dirty="0"/>
            <a:t> to complement standard Aviator offerings</a:t>
          </a:r>
          <a:endParaRPr lang="en-IN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Plan: </a:t>
          </a:r>
          <a:r>
            <a:rPr lang="en-IN" sz="1200" b="1" kern="1200" dirty="0"/>
            <a:t>Developer level enablement </a:t>
          </a:r>
          <a:r>
            <a:rPr lang="en-IN" sz="1200" b="0" kern="1200" dirty="0"/>
            <a:t>for AI through mentoring &amp; lab access, build prototype AI solutions / use cases as a group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Duration: </a:t>
          </a:r>
          <a:r>
            <a:rPr lang="en-IN" sz="1200" b="1" kern="1200" dirty="0"/>
            <a:t>4 months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Timeline: M3Q3 to M3Q4 (March – June 2026)</a:t>
          </a:r>
        </a:p>
      </dsp:txBody>
      <dsp:txXfrm>
        <a:off x="8141143" y="301860"/>
        <a:ext cx="2722693" cy="2386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7553C7-365E-43F3-8A42-A1D8943DBABE}">
      <dsp:nvSpPr>
        <dsp:cNvPr id="0" name=""/>
        <dsp:cNvSpPr/>
      </dsp:nvSpPr>
      <dsp:spPr>
        <a:xfrm>
          <a:off x="10113" y="0"/>
          <a:ext cx="1804464" cy="3934442"/>
        </a:xfrm>
        <a:prstGeom prst="roundRect">
          <a:avLst>
            <a:gd name="adj" fmla="val 10000"/>
          </a:avLst>
        </a:prstGeom>
        <a:solidFill>
          <a:srgbClr val="1668C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Week 1 </a:t>
          </a:r>
        </a:p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(Introduction)</a:t>
          </a:r>
        </a:p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Day 1 – Enablement overview session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4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Day 2 – OT Aviator Solution Overview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4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Day 3 – OSM Aviator  – Interactive sessions</a:t>
          </a:r>
        </a:p>
      </dsp:txBody>
      <dsp:txXfrm>
        <a:off x="62964" y="52851"/>
        <a:ext cx="1698762" cy="3828740"/>
      </dsp:txXfrm>
    </dsp:sp>
    <dsp:sp modelId="{F759109F-83AB-4253-9308-879929476A99}">
      <dsp:nvSpPr>
        <dsp:cNvPr id="0" name=""/>
        <dsp:cNvSpPr/>
      </dsp:nvSpPr>
      <dsp:spPr>
        <a:xfrm>
          <a:off x="1995024" y="1743467"/>
          <a:ext cx="382546" cy="447507"/>
        </a:xfrm>
        <a:prstGeom prst="rightArrow">
          <a:avLst>
            <a:gd name="adj1" fmla="val 60000"/>
            <a:gd name="adj2" fmla="val 50000"/>
          </a:avLst>
        </a:prstGeom>
        <a:solidFill>
          <a:srgbClr val="0079EF">
            <a:lumMod val="60000"/>
            <a:lumOff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1995024" y="1832968"/>
        <a:ext cx="267782" cy="268505"/>
      </dsp:txXfrm>
    </dsp:sp>
    <dsp:sp modelId="{32FD9EE8-F418-4374-AAB1-44EABF94C5EC}">
      <dsp:nvSpPr>
        <dsp:cNvPr id="0" name=""/>
        <dsp:cNvSpPr/>
      </dsp:nvSpPr>
      <dsp:spPr>
        <a:xfrm>
          <a:off x="2536364" y="-19556"/>
          <a:ext cx="1804464" cy="3973555"/>
        </a:xfrm>
        <a:prstGeom prst="roundRect">
          <a:avLst>
            <a:gd name="adj" fmla="val 10000"/>
          </a:avLst>
        </a:prstGeom>
        <a:solidFill>
          <a:srgbClr val="231CA5">
            <a:lumMod val="40000"/>
            <a:lumOff val="60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Week 2</a:t>
          </a:r>
        </a:p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(AI Fundamentals Essentials - Self learning  Google portal)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Day 1 –Value Edge &amp; Fortify Aviator – Interactive sessions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400" b="1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Day 2 - Generative AI fundamentals, Introduction to LLM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400" b="1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Day 3 - Generative AI for Business leaders</a:t>
          </a:r>
        </a:p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 </a:t>
          </a:r>
        </a:p>
      </dsp:txBody>
      <dsp:txXfrm>
        <a:off x="2589215" y="33295"/>
        <a:ext cx="1698762" cy="3867853"/>
      </dsp:txXfrm>
    </dsp:sp>
    <dsp:sp modelId="{52906483-8EFB-4D09-88FD-342FB3A12CCE}">
      <dsp:nvSpPr>
        <dsp:cNvPr id="0" name=""/>
        <dsp:cNvSpPr/>
      </dsp:nvSpPr>
      <dsp:spPr>
        <a:xfrm>
          <a:off x="4521275" y="1743467"/>
          <a:ext cx="382546" cy="447507"/>
        </a:xfrm>
        <a:prstGeom prst="rightArrow">
          <a:avLst>
            <a:gd name="adj1" fmla="val 60000"/>
            <a:gd name="adj2" fmla="val 50000"/>
          </a:avLst>
        </a:prstGeom>
        <a:solidFill>
          <a:srgbClr val="0079EF">
            <a:lumMod val="60000"/>
            <a:lumOff val="4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4521275" y="1832968"/>
        <a:ext cx="267782" cy="268505"/>
      </dsp:txXfrm>
    </dsp:sp>
    <dsp:sp modelId="{A4C3063F-9B2F-43E2-B96A-C167F03F9726}">
      <dsp:nvSpPr>
        <dsp:cNvPr id="0" name=""/>
        <dsp:cNvSpPr/>
      </dsp:nvSpPr>
      <dsp:spPr>
        <a:xfrm>
          <a:off x="5062615" y="-53735"/>
          <a:ext cx="1804464" cy="4041912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Week 3</a:t>
          </a:r>
          <a:endParaRPr lang="en-US" sz="16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Day 1 - Introduction to  Generative AI Studio</a:t>
          </a:r>
          <a:endParaRPr lang="en-IN" sz="1400" b="1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Day 2 -  Introduction to responsible AI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Day 3 – Applying AI principles with Google cloud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Week 4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Boost productivity with Gemini in </a:t>
          </a:r>
          <a:r>
            <a:rPr lang="en-US" sz="1400" b="1" kern="1200" dirty="0" err="1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BigQuery</a:t>
          </a:r>
          <a:endParaRPr 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5115466" y="-884"/>
        <a:ext cx="1698762" cy="3936210"/>
      </dsp:txXfrm>
    </dsp:sp>
    <dsp:sp modelId="{02156A78-8C05-43C1-8F90-FB3102C72816}">
      <dsp:nvSpPr>
        <dsp:cNvPr id="0" name=""/>
        <dsp:cNvSpPr/>
      </dsp:nvSpPr>
      <dsp:spPr>
        <a:xfrm>
          <a:off x="7044632" y="1743467"/>
          <a:ext cx="376410" cy="4475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>
        <a:off x="7044632" y="1832968"/>
        <a:ext cx="263487" cy="268505"/>
      </dsp:txXfrm>
    </dsp:sp>
    <dsp:sp modelId="{1771DE93-B51A-4BC4-8714-047C296375B6}">
      <dsp:nvSpPr>
        <dsp:cNvPr id="0" name=""/>
        <dsp:cNvSpPr/>
      </dsp:nvSpPr>
      <dsp:spPr>
        <a:xfrm>
          <a:off x="7577288" y="0"/>
          <a:ext cx="1804464" cy="3934442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Week 5 to week 6</a:t>
          </a:r>
        </a:p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Text Prompt Engineering Techniques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Week 7</a:t>
          </a:r>
          <a:endParaRPr lang="en-US" sz="1400" b="1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Revisions of key learnings, share experience with others, seek clarifications from mentors</a:t>
          </a:r>
          <a:endParaRPr lang="en-US" sz="14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7630139" y="52851"/>
        <a:ext cx="1698762" cy="3828740"/>
      </dsp:txXfrm>
    </dsp:sp>
    <dsp:sp modelId="{C4AACA2C-1F82-4F2F-ADFD-6F2940786AA0}">
      <dsp:nvSpPr>
        <dsp:cNvPr id="0" name=""/>
        <dsp:cNvSpPr/>
      </dsp:nvSpPr>
      <dsp:spPr>
        <a:xfrm>
          <a:off x="9565094" y="1743467"/>
          <a:ext cx="388682" cy="4475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>
        <a:off x="9565094" y="1832968"/>
        <a:ext cx="272077" cy="268505"/>
      </dsp:txXfrm>
    </dsp:sp>
    <dsp:sp modelId="{AD612120-0DF3-4A66-9622-AEF3A6A9095E}">
      <dsp:nvSpPr>
        <dsp:cNvPr id="0" name=""/>
        <dsp:cNvSpPr/>
      </dsp:nvSpPr>
      <dsp:spPr>
        <a:xfrm>
          <a:off x="10115117" y="0"/>
          <a:ext cx="1562468" cy="3934442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952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Week 8</a:t>
          </a:r>
        </a:p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Attempt Certification</a:t>
          </a:r>
        </a:p>
      </dsp:txBody>
      <dsp:txXfrm>
        <a:off x="10160880" y="45763"/>
        <a:ext cx="1470942" cy="38429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9F90D6-EA80-7593-E05A-37E83363F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C3A00-CBE1-7802-7682-A0B4A9560A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15D20-19FB-7643-B4C3-7635047816B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AF343-9A72-9596-D640-411EDDA8E6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9FFAC-17AE-BC5F-0EB1-918C780967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3E040-8878-A640-8937-37A1C16D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618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B2D62-B6A2-3447-9923-CFB87486FFF6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393BE-9545-FE4D-A649-E5FAB4D36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5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C407A1-90CB-2CFB-EFA4-C620A62C7C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pic>
        <p:nvPicPr>
          <p:cNvPr id="3" name="OpenText Logo - OT" descr="preencoded.png">
            <a:extLst>
              <a:ext uri="{FF2B5EF4-FFF2-40B4-BE49-F238E27FC236}">
                <a16:creationId xmlns:a16="http://schemas.microsoft.com/office/drawing/2014/main" id="{D06AD010-1E48-11CC-50BE-1BABF7FDD8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05481" y="523006"/>
            <a:ext cx="2814115" cy="45085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D23AB7-D48E-077B-5A0F-CB869DE30A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043114"/>
            <a:ext cx="54864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4750" b="1" kern="0" spc="-100" dirty="0">
                <a:solidFill>
                  <a:srgbClr val="FFFFFF"/>
                </a:solidFill>
                <a:latin typeface="Arial" panose="020B0604020202020204" pitchFamily="34" charset="0"/>
                <a:ea typeface="Inter Semi Bold" pitchFamily="34" charset="-122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dirty="0"/>
              <a:t>Presentation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B83FC86-084C-E0AC-180D-94D7151C63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834274"/>
            <a:ext cx="5486400" cy="658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25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subtitle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25D99F4-72E4-DB06-F51B-A3B9379E98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427765"/>
            <a:ext cx="5486400" cy="8095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buNone/>
              <a:defRPr sz="16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3pPr>
            <a:lvl4pPr marL="137160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4pPr>
            <a:lvl5pPr marL="182880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86357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sky with a sunset&#10;&#10;AI-generated content may be incorrect.">
            <a:extLst>
              <a:ext uri="{FF2B5EF4-FFF2-40B4-BE49-F238E27FC236}">
                <a16:creationId xmlns:a16="http://schemas.microsoft.com/office/drawing/2014/main" id="{EF781175-FC76-3DA6-586D-FF8F212B2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447215"/>
            <a:ext cx="6060766" cy="1298575"/>
          </a:xfrm>
          <a:noFill/>
        </p:spPr>
        <p:txBody>
          <a:bodyPr lIns="0" rIns="0"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3824080"/>
            <a:ext cx="6060766" cy="40896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</a:t>
            </a:r>
          </a:p>
        </p:txBody>
      </p:sp>
    </p:spTree>
    <p:extLst>
      <p:ext uri="{BB962C8B-B14F-4D97-AF65-F5344CB8AC3E}">
        <p14:creationId xmlns:p14="http://schemas.microsoft.com/office/powerpoint/2010/main" val="390191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red sky&#10;&#10;AI-generated content may be incorrect.">
            <a:extLst>
              <a:ext uri="{FF2B5EF4-FFF2-40B4-BE49-F238E27FC236}">
                <a16:creationId xmlns:a16="http://schemas.microsoft.com/office/drawing/2014/main" id="{BEC3C081-82C1-0548-BBBB-A3E24BA931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447215"/>
            <a:ext cx="6060766" cy="1298575"/>
          </a:xfrm>
          <a:noFill/>
        </p:spPr>
        <p:txBody>
          <a:bodyPr lIns="0" rIns="0"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3824080"/>
            <a:ext cx="6060766" cy="40896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</a:t>
            </a:r>
          </a:p>
        </p:txBody>
      </p:sp>
    </p:spTree>
    <p:extLst>
      <p:ext uri="{BB962C8B-B14F-4D97-AF65-F5344CB8AC3E}">
        <p14:creationId xmlns:p14="http://schemas.microsoft.com/office/powerpoint/2010/main" val="3614388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Bo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08B887-878E-B858-E229-F31F4DAAB3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190500"/>
            <a:ext cx="10972800" cy="9525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A197A-BE11-07E9-42EF-EACAB96DB07B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609600" y="1600200"/>
            <a:ext cx="10972800" cy="4572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-222250"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8788" indent="-230188">
              <a:tabLst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7388" indent="-228600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7575" indent="-230188"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27199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08B887-878E-B858-E229-F31F4DAAB3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190500"/>
            <a:ext cx="10972800" cy="9525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722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794942A-D6B2-3B72-0EA0-A07426FFAB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09600" y="548258"/>
            <a:ext cx="10972800" cy="77339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6BDA5E-CDC1-E14A-9489-54088DDFD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3339" y="6454075"/>
            <a:ext cx="415951" cy="23385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4B5AC-300A-02CB-C13F-90E69C9468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376363"/>
            <a:ext cx="3250058" cy="48609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1600"/>
            </a:lvl1pPr>
            <a:lvl2pPr marL="233363" indent="-225425">
              <a:tabLst/>
              <a:defRPr sz="1600"/>
            </a:lvl2pPr>
            <a:lvl3pPr marL="457200" indent="-223838">
              <a:tabLst/>
              <a:defRPr sz="1600"/>
            </a:lvl3pPr>
            <a:lvl4pPr marL="690563" indent="-233363">
              <a:tabLst/>
              <a:defRPr sz="1400"/>
            </a:lvl4pPr>
            <a:lvl5pPr marL="914400" indent="-223838"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7177870-D7BA-557D-E4CF-4508EE6974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76108" y="1376363"/>
            <a:ext cx="3243211" cy="48609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1600"/>
            </a:lvl1pPr>
            <a:lvl2pPr marL="233363" indent="-225425">
              <a:tabLst/>
              <a:defRPr sz="1600"/>
            </a:lvl2pPr>
            <a:lvl3pPr marL="457200" indent="-223838">
              <a:tabLst/>
              <a:defRPr sz="1600"/>
            </a:lvl3pPr>
            <a:lvl4pPr marL="690563" indent="-233363">
              <a:tabLst/>
              <a:defRPr sz="1400"/>
            </a:lvl4pPr>
            <a:lvl5pPr marL="914400" indent="-223838"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88B6519-4C5C-6BE5-65A1-8843AB645B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39191" y="1376363"/>
            <a:ext cx="3243211" cy="4860925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1600"/>
            </a:lvl1pPr>
            <a:lvl2pPr marL="233363" indent="-225425">
              <a:tabLst/>
              <a:defRPr sz="1600"/>
            </a:lvl2pPr>
            <a:lvl3pPr marL="457200" indent="-223838">
              <a:tabLst/>
              <a:defRPr sz="1600"/>
            </a:lvl3pPr>
            <a:lvl4pPr marL="690563" indent="-233363">
              <a:tabLst/>
              <a:defRPr sz="1400"/>
            </a:lvl4pPr>
            <a:lvl5pPr marL="914400" indent="-223838"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158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765B62-3A84-7887-A25B-0B5F7EEA23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F30F74-3239-434D-FDF8-F6EC8D561224}"/>
              </a:ext>
            </a:extLst>
          </p:cNvPr>
          <p:cNvSpPr txBox="1"/>
          <p:nvPr userDrawn="1"/>
        </p:nvSpPr>
        <p:spPr>
          <a:xfrm>
            <a:off x="3540177" y="6057569"/>
            <a:ext cx="51116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aseline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opentext.com</a:t>
            </a:r>
            <a:r>
              <a:rPr lang="en-US" sz="100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 · </a:t>
            </a:r>
            <a:r>
              <a:rPr lang="en-US" sz="1000" baseline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twitter.com</a:t>
            </a:r>
            <a:r>
              <a:rPr lang="en-US" sz="100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/</a:t>
            </a:r>
            <a:r>
              <a:rPr lang="en-US" sz="1000" baseline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opentext</a:t>
            </a:r>
            <a:r>
              <a:rPr lang="en-US" sz="100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 ·  </a:t>
            </a:r>
            <a:r>
              <a:rPr lang="en-US" sz="1000" baseline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linkedin.com</a:t>
            </a:r>
            <a:r>
              <a:rPr lang="en-US" sz="100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/company/</a:t>
            </a:r>
            <a:r>
              <a:rPr lang="en-US" sz="1000" baseline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opentext</a:t>
            </a:r>
            <a:endParaRPr lang="en-US" sz="1000" baseline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7122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orange sky&#10;&#10;AI-generated content may be incorrect.">
            <a:extLst>
              <a:ext uri="{FF2B5EF4-FFF2-40B4-BE49-F238E27FC236}">
                <a16:creationId xmlns:a16="http://schemas.microsoft.com/office/drawing/2014/main" id="{340A48C9-5AD5-335D-7A5E-79DD115995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2B70533-A618-424C-9917-D5E13E3EB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447215"/>
            <a:ext cx="6060766" cy="1298575"/>
          </a:xfrm>
          <a:noFill/>
        </p:spPr>
        <p:txBody>
          <a:bodyPr lIns="0" rIns="0"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Section break title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DDAE44-64A1-5940-ACC6-BD8F3BBEBA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3824080"/>
            <a:ext cx="6060766" cy="40896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marL="0" indent="0">
              <a:buNone/>
              <a:defRPr sz="2000" baseline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6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8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1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9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break subtitle</a:t>
            </a:r>
          </a:p>
        </p:txBody>
      </p:sp>
    </p:spTree>
    <p:extLst>
      <p:ext uri="{BB962C8B-B14F-4D97-AF65-F5344CB8AC3E}">
        <p14:creationId xmlns:p14="http://schemas.microsoft.com/office/powerpoint/2010/main" val="537969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AC30D6-2CC1-1F0E-F02C-A7F12C7B3A1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113339" y="6446641"/>
            <a:ext cx="415951" cy="2338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0018CC-18D9-C8BC-84C0-DB839E5C0CEA}"/>
              </a:ext>
            </a:extLst>
          </p:cNvPr>
          <p:cNvSpPr/>
          <p:nvPr userDrawn="1"/>
        </p:nvSpPr>
        <p:spPr>
          <a:xfrm>
            <a:off x="11589396" y="6520640"/>
            <a:ext cx="46463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3C1D921F-663F-5D4C-BF56-776C1B867DF7}" type="slidenum">
              <a:rPr lang="en-US" sz="800" baseline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 algn="r"/>
              <a:t>‹#›</a:t>
            </a:fld>
            <a:endParaRPr lang="en-US" sz="800" baseline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649B27-4876-9447-D758-CCBB176C041F}"/>
              </a:ext>
            </a:extLst>
          </p:cNvPr>
          <p:cNvSpPr/>
          <p:nvPr userDrawn="1"/>
        </p:nvSpPr>
        <p:spPr>
          <a:xfrm>
            <a:off x="9479756" y="6520640"/>
            <a:ext cx="2124869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r>
              <a:rPr lang="en-US" sz="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</a:rPr>
              <a:t>OpenText ©2025. All rights reserved.</a:t>
            </a:r>
            <a:endParaRPr lang="en-US" sz="800" baseline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56049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60" r:id="rId2"/>
    <p:sldLayoutId id="2147483761" r:id="rId3"/>
    <p:sldLayoutId id="2147483765" r:id="rId4"/>
    <p:sldLayoutId id="2147483771" r:id="rId5"/>
    <p:sldLayoutId id="2147483768" r:id="rId6"/>
    <p:sldLayoutId id="2147483735" r:id="rId7"/>
    <p:sldLayoutId id="2147483772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pos="7296" userDrawn="1">
          <p15:clr>
            <a:srgbClr val="FBAE40"/>
          </p15:clr>
        </p15:guide>
        <p15:guide id="19" pos="384" userDrawn="1">
          <p15:clr>
            <a:srgbClr val="FBAE40"/>
          </p15:clr>
        </p15:guide>
        <p15:guide id="21" orient="horz" pos="3888" userDrawn="1">
          <p15:clr>
            <a:srgbClr val="FBAE40"/>
          </p15:clr>
        </p15:guide>
        <p15:guide id="22" orient="horz" pos="720" userDrawn="1">
          <p15:clr>
            <a:srgbClr val="F26B43"/>
          </p15:clr>
        </p15:guide>
        <p15:guide id="23" pos="3840" userDrawn="1">
          <p15:clr>
            <a:srgbClr val="9FCC3B"/>
          </p15:clr>
        </p15:guide>
        <p15:guide id="24" orient="horz" pos="4201" userDrawn="1">
          <p15:clr>
            <a:srgbClr val="F26B43"/>
          </p15:clr>
        </p15:guide>
        <p15:guide id="25" pos="120" userDrawn="1">
          <p15:clr>
            <a:srgbClr val="F26B43"/>
          </p15:clr>
        </p15:guide>
        <p15:guide id="26" orient="horz" pos="120" userDrawn="1">
          <p15:clr>
            <a:srgbClr val="F26B43"/>
          </p15:clr>
        </p15:guide>
        <p15:guide id="27" pos="7536" userDrawn="1">
          <p15:clr>
            <a:srgbClr val="F26B43"/>
          </p15:clr>
        </p15:guide>
        <p15:guide id="28" orient="horz" pos="2160" userDrawn="1">
          <p15:clr>
            <a:srgbClr val="9FCC3B"/>
          </p15:clr>
        </p15:guide>
        <p15:guide id="29" orient="horz" pos="1008" userDrawn="1">
          <p15:clr>
            <a:srgbClr val="F26B43"/>
          </p15:clr>
        </p15:guide>
        <p15:guide id="30" orient="horz" pos="4008" userDrawn="1">
          <p15:clr>
            <a:srgbClr val="F26B43"/>
          </p15:clr>
        </p15:guide>
        <p15:guide id="31" pos="288" userDrawn="1">
          <p15:clr>
            <a:srgbClr val="F26B43"/>
          </p15:clr>
        </p15:guide>
        <p15:guide id="32" pos="73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si.microsoft.com/landing" TargetMode="External"/><Relationship Id="rId2" Type="http://schemas.openxmlformats.org/officeDocument/2006/relationships/hyperlink" Target="https://partner.cloudskillsboost.google/paths/165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opentextservices.udemy.com/courses/ufb-generative-ai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partner.cloudskillsboost.google/paths/119/course_templates/554" TargetMode="External"/><Relationship Id="rId3" Type="http://schemas.openxmlformats.org/officeDocument/2006/relationships/hyperlink" Target="https://partner.cloudskillsboost.google/course_templates/536/video/520739" TargetMode="External"/><Relationship Id="rId7" Type="http://schemas.openxmlformats.org/officeDocument/2006/relationships/hyperlink" Target="https://partner.cloudskillsboost.google/paths/119/course_templates/819" TargetMode="External"/><Relationship Id="rId2" Type="http://schemas.openxmlformats.org/officeDocument/2006/relationships/hyperlink" Target="https://opentext.hubs.vidyard.com/watch/7PuhFjc1f6bJgJqYTQBWUV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partner.cloudskillsboost.google/paths/119/course_templates/552" TargetMode="External"/><Relationship Id="rId11" Type="http://schemas.openxmlformats.org/officeDocument/2006/relationships/hyperlink" Target="https://partner.cloudskillsboost.google/paths/119/course_templates/583" TargetMode="External"/><Relationship Id="rId5" Type="http://schemas.openxmlformats.org/officeDocument/2006/relationships/hyperlink" Target="https://partner.cloudskillsboost.google/paths/119/course_templates/587" TargetMode="External"/><Relationship Id="rId10" Type="http://schemas.openxmlformats.org/officeDocument/2006/relationships/hyperlink" Target="https://partner.cloudskillsboost.google/paths/119/course_templates/1169" TargetMode="External"/><Relationship Id="rId4" Type="http://schemas.openxmlformats.org/officeDocument/2006/relationships/hyperlink" Target="https://partner.cloudskillsboost.google/course_templates/539" TargetMode="External"/><Relationship Id="rId9" Type="http://schemas.openxmlformats.org/officeDocument/2006/relationships/hyperlink" Target="https://partner.cloudskillsboost.google/paths/119/course_templates/388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artner.cloudskillsboost.google/paths/119/course_templates/583" TargetMode="External"/><Relationship Id="rId3" Type="http://schemas.openxmlformats.org/officeDocument/2006/relationships/diagramLayout" Target="../diagrams/layout2.xml"/><Relationship Id="rId7" Type="http://schemas.openxmlformats.org/officeDocument/2006/relationships/hyperlink" Target="https://partner.cloudskillsboost.google/paths/119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avigator.opentext.com/aitools/#LearnAI" TargetMode="External"/><Relationship Id="rId2" Type="http://schemas.openxmlformats.org/officeDocument/2006/relationships/hyperlink" Target="https://central.opentext.com/opentext-ai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blogs.opentext.com/welcome-to-opentext-ai/" TargetMode="External"/><Relationship Id="rId5" Type="http://schemas.openxmlformats.org/officeDocument/2006/relationships/hyperlink" Target="https://share.vidyard.com/watch/LuHUa8HwsxsHPJnXQ2WXPR" TargetMode="External"/><Relationship Id="rId4" Type="http://schemas.openxmlformats.org/officeDocument/2006/relationships/hyperlink" Target="https://corporateit.opentext.com/ollie-ai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ner.cloudskillsboost.google/" TargetMode="External"/><Relationship Id="rId2" Type="http://schemas.openxmlformats.org/officeDocument/2006/relationships/hyperlink" Target="https://esi.microsoft.com/landing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opentextservices.udemy.com/" TargetMode="External"/><Relationship Id="rId5" Type="http://schemas.openxmlformats.org/officeDocument/2006/relationships/hyperlink" Target="https://navigator.opentext.com/psacademy/#PSConsultingAcademy" TargetMode="External"/><Relationship Id="rId4" Type="http://schemas.openxmlformats.org/officeDocument/2006/relationships/hyperlink" Target="https://forms.office.com/Pages/ResponsePage.aspx?id=d4ShEDPVzU6njZFtvYSdfI9FcNo9fptGrUKfJpJxX-BUQ0M1RDhHV1pUOTdCRFBYTkhFVUlBSDlDRyQlQCN0PWcu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hyperlink" Target="https://urldefense.com/v3/__https:/teams.microsoft.com/l/team/19*3aeCngYhPjng8FUCuxSrD5yO6Rq8gYptKrJfMpLm6IWKY1*40thread.tacv2/conversations?tenantId=10a18477-d533-4ecd-a78d-916dbd849d7c__;JSU!!Obbck6kTJA!Yuu0G9FTG7NDZZOA-NufbVrXPoAhElvCv4gxsG8JcP8hxJPY-gOK7DOB32X7Ocy78MXt2M-wtAZbNQInKSUF3v-fLvJP$" TargetMode="External"/><Relationship Id="rId1" Type="http://schemas.openxmlformats.org/officeDocument/2006/relationships/slideLayout" Target="../slideLayouts/slideLayout5.xml"/><Relationship Id="rId5" Type="http://schemas.openxmlformats.org/officeDocument/2006/relationships/slide" Target="slide12.xml"/><Relationship Id="rId4" Type="http://schemas.openxmlformats.org/officeDocument/2006/relationships/hyperlink" Target="https://core.opentext.com/pdfjs/web/viewer.html?shortLink=718fa3d9f24373c27306683c70b3bfff1e3cf15e1c81e2ce&amp;version=2889888039742478558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core.opentext.com/pdfjs/web/viewer.html?shortLink=718fa3d9f24373c27306683c70b3bfff1e3cf15e1c81e2ce&amp;version=2889888039742478558" TargetMode="External"/><Relationship Id="rId3" Type="http://schemas.openxmlformats.org/officeDocument/2006/relationships/hyperlink" Target="https://intranet.opentext.com/intranet/llisapi.dll/Open/243076389" TargetMode="External"/><Relationship Id="rId7" Type="http://schemas.openxmlformats.org/officeDocument/2006/relationships/hyperlink" Target="https://intranet.opentext.com/intranet/llisapi.dll/Open/243068707" TargetMode="External"/><Relationship Id="rId2" Type="http://schemas.openxmlformats.org/officeDocument/2006/relationships/hyperlink" Target="https://intranet.opentext.com/intranet/llisapi.dll/Open/243072161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intranet.opentext.com/intranet/llisapi.dll/Open/243076794" TargetMode="External"/><Relationship Id="rId5" Type="http://schemas.openxmlformats.org/officeDocument/2006/relationships/hyperlink" Target="https://intranet.opentext.com/intranet/llisapi.dll/Open/243072860" TargetMode="External"/><Relationship Id="rId4" Type="http://schemas.openxmlformats.org/officeDocument/2006/relationships/hyperlink" Target="https://intranet.opentext.com/intranet/llisapi.dll/Open/243072271" TargetMode="External"/><Relationship Id="rId9" Type="http://schemas.openxmlformats.org/officeDocument/2006/relationships/hyperlink" Target="https://opentext.plateau.com/learning/user/common/viewItemDetails.do?componentID=2900&amp;targetStudentSysGUID=&amp;componentTypeID=COURSE&amp;fromSF=Y&amp;revisionDate=1737479580000&amp;catalogAction=launchContent&amp;actingAs=&amp;menuGroup=Learning&amp;menuItem=Cur&amp;fromDeepLink=true&amp;hideItemDetailsBackLink=true#/D80C3739FD33C138190028005E5B11AC/coursedetails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partner.cloudskillsboost.google/paths/165/course_templates/1189" TargetMode="External"/><Relationship Id="rId3" Type="http://schemas.openxmlformats.org/officeDocument/2006/relationships/hyperlink" Target="https://partner.cloudskillsboost.google/paths/165/course_templates/868/video/491041" TargetMode="External"/><Relationship Id="rId7" Type="http://schemas.openxmlformats.org/officeDocument/2006/relationships/hyperlink" Target="https://partner.cloudskillsboost.google/paths/165/course_templates/916" TargetMode="External"/><Relationship Id="rId2" Type="http://schemas.openxmlformats.org/officeDocument/2006/relationships/hyperlink" Target="https://partner.cloudskillsboost.google/paths/165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partner.cloudskillsboost.google/paths/165/course_templates/876" TargetMode="External"/><Relationship Id="rId5" Type="http://schemas.openxmlformats.org/officeDocument/2006/relationships/hyperlink" Target="https://partner.cloudskillsboost.google/paths/165/course_templates/981" TargetMode="External"/><Relationship Id="rId4" Type="http://schemas.openxmlformats.org/officeDocument/2006/relationships/hyperlink" Target="https://partner.cloudskillsboost.google/paths/165/course_templates/939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10A64F-56C9-6920-8FDC-EA80D56B8C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2043114"/>
            <a:ext cx="6667500" cy="1657350"/>
          </a:xfrm>
        </p:spPr>
        <p:txBody>
          <a:bodyPr/>
          <a:lstStyle/>
          <a:p>
            <a:r>
              <a:rPr lang="en-US" sz="4800" dirty="0"/>
              <a:t>AI Enablement Initiative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6CE39-EBC3-39CC-E17F-4A931903FA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2400" y="3834274"/>
            <a:ext cx="6858000" cy="658813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ODC Practice Professional Services delivery team</a:t>
            </a:r>
          </a:p>
          <a:p>
            <a:r>
              <a:rPr lang="en-US" sz="2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11429-B5B8-1F0D-9909-482B320CA1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800" dirty="0">
                <a:solidFill>
                  <a:schemeClr val="bg1"/>
                </a:solidFill>
              </a:rPr>
              <a:t>28</a:t>
            </a:r>
            <a:r>
              <a:rPr lang="en-US" sz="1800" baseline="30000" dirty="0">
                <a:solidFill>
                  <a:schemeClr val="bg1"/>
                </a:solidFill>
              </a:rPr>
              <a:t>th</a:t>
            </a:r>
            <a:r>
              <a:rPr lang="en-US" sz="1800" dirty="0">
                <a:solidFill>
                  <a:schemeClr val="bg1"/>
                </a:solidFill>
              </a:rPr>
              <a:t> August 2025</a:t>
            </a:r>
          </a:p>
        </p:txBody>
      </p:sp>
    </p:spTree>
    <p:extLst>
      <p:ext uri="{BB962C8B-B14F-4D97-AF65-F5344CB8AC3E}">
        <p14:creationId xmlns:p14="http://schemas.microsoft.com/office/powerpoint/2010/main" val="1837533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55812-6749-4800-6F8A-E8CC16A69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685800"/>
          </a:xfrm>
        </p:spPr>
        <p:txBody>
          <a:bodyPr/>
          <a:lstStyle/>
          <a:p>
            <a:r>
              <a:rPr lang="it-IT" dirty="0"/>
              <a:t>AI Enablement Initiative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07F74-0DD3-1C65-F57F-3855C9CAA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62000"/>
            <a:ext cx="10972800" cy="1371600"/>
          </a:xfrm>
        </p:spPr>
        <p:txBody>
          <a:bodyPr/>
          <a:lstStyle/>
          <a:p>
            <a:pPr marL="9525" lvl="1" indent="0">
              <a:buNone/>
            </a:pPr>
            <a:r>
              <a:rPr lang="en-US" b="1" u="sng" dirty="0"/>
              <a:t>Objective: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sz="1600" dirty="0"/>
              <a:t>Prepare ODC (OSM, DevOps and Cybersecurity) Professional Services delivery team in India to be able to confidently position and deliver AI solutions.</a:t>
            </a:r>
          </a:p>
          <a:p>
            <a:pPr marL="9525" lvl="1" indent="0">
              <a:buNone/>
            </a:pPr>
            <a:r>
              <a:rPr lang="en-US" b="1" u="sng" dirty="0"/>
              <a:t>High Level Plan &amp; Goals:</a:t>
            </a:r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676FE20-809F-0968-4FED-86BBF53734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8839280"/>
              </p:ext>
            </p:extLst>
          </p:nvPr>
        </p:nvGraphicFramePr>
        <p:xfrm>
          <a:off x="0" y="2002421"/>
          <a:ext cx="12039600" cy="4340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32DEA4E-A472-BFD0-0915-C56FCF9763A6}"/>
              </a:ext>
            </a:extLst>
          </p:cNvPr>
          <p:cNvSpPr txBox="1"/>
          <p:nvPr/>
        </p:nvSpPr>
        <p:spPr>
          <a:xfrm>
            <a:off x="1377387" y="5820754"/>
            <a:ext cx="1022044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IN" sz="1400" dirty="0"/>
              <a:t>Note: Expected time investment – 4 to 5 hours every week. 1 month gap planned between each phase to provide further flexibility.</a:t>
            </a:r>
          </a:p>
        </p:txBody>
      </p:sp>
    </p:spTree>
    <p:extLst>
      <p:ext uri="{BB962C8B-B14F-4D97-AF65-F5344CB8AC3E}">
        <p14:creationId xmlns:p14="http://schemas.microsoft.com/office/powerpoint/2010/main" val="186147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2445-F5C7-A73F-ADD1-07758DA87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647700"/>
          </a:xfrm>
        </p:spPr>
        <p:txBody>
          <a:bodyPr/>
          <a:lstStyle/>
          <a:p>
            <a:r>
              <a:rPr lang="it-IT" dirty="0"/>
              <a:t>Enablement Strategy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3588D-7C0D-4ED6-ACAD-8D4EE29D32D3}"/>
              </a:ext>
            </a:extLst>
          </p:cNvPr>
          <p:cNvSpPr txBox="1">
            <a:spLocks/>
          </p:cNvSpPr>
          <p:nvPr/>
        </p:nvSpPr>
        <p:spPr>
          <a:xfrm>
            <a:off x="208344" y="669403"/>
            <a:ext cx="11771452" cy="5719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lvl="1" indent="0">
              <a:buFont typeface="Arial" panose="020B0604020202020204" pitchFamily="34" charset="0"/>
              <a:buNone/>
            </a:pPr>
            <a:r>
              <a:rPr lang="en-US" sz="2000" b="1" u="sng" dirty="0"/>
              <a:t>Phase 1: </a:t>
            </a:r>
            <a:r>
              <a:rPr lang="en-US" sz="2000" b="1" dirty="0"/>
              <a:t>General AI enablement</a:t>
            </a:r>
            <a:endParaRPr lang="en-US" sz="2000" b="1" u="sng" dirty="0"/>
          </a:p>
          <a:p>
            <a:pPr lvl="2"/>
            <a:r>
              <a:rPr lang="en-US" sz="1800" b="1" dirty="0"/>
              <a:t>Introduction and program overview – </a:t>
            </a:r>
            <a:r>
              <a:rPr lang="en-US" sz="1800" dirty="0"/>
              <a:t>Instructor led session</a:t>
            </a:r>
          </a:p>
          <a:p>
            <a:pPr lvl="2"/>
            <a:r>
              <a:rPr lang="en-US" sz="1800" b="1" dirty="0"/>
              <a:t>AI fundamentals – </a:t>
            </a:r>
            <a:r>
              <a:rPr lang="en-US" sz="1800" dirty="0"/>
              <a:t>Self paced trainings on </a:t>
            </a:r>
            <a:r>
              <a:rPr lang="en-US" sz="1800" dirty="0">
                <a:hlinkClick r:id="rId2"/>
              </a:rPr>
              <a:t>Google partner portal </a:t>
            </a:r>
            <a:r>
              <a:rPr lang="en-US" sz="1800" dirty="0"/>
              <a:t>or </a:t>
            </a:r>
            <a:r>
              <a:rPr lang="en-US" sz="1800" dirty="0">
                <a:hlinkClick r:id="rId3"/>
              </a:rPr>
              <a:t>Microsoft</a:t>
            </a:r>
            <a:r>
              <a:rPr lang="en-US" sz="1800" dirty="0"/>
              <a:t> covering basic concepts of AI. Optional courses available in </a:t>
            </a:r>
            <a:r>
              <a:rPr lang="en-US" sz="1800" dirty="0">
                <a:hlinkClick r:id="rId4"/>
              </a:rPr>
              <a:t>Udemy</a:t>
            </a:r>
            <a:r>
              <a:rPr lang="en-US" sz="1800" dirty="0"/>
              <a:t> for more detailed learning. </a:t>
            </a:r>
          </a:p>
          <a:p>
            <a:pPr marL="241200" lvl="2" indent="0">
              <a:buFont typeface="Arial" panose="020B0604020202020204" pitchFamily="34" charset="0"/>
              <a:buNone/>
            </a:pPr>
            <a:r>
              <a:rPr lang="en-US" sz="1800" dirty="0"/>
              <a:t>    Weekly sessions with mentors to seek clarifications. Weekly quiz to check progress and encourage learning.</a:t>
            </a:r>
          </a:p>
          <a:p>
            <a:pPr lvl="2"/>
            <a:r>
              <a:rPr lang="en-US" sz="1800" b="1" dirty="0"/>
              <a:t>OT OAC AI Solution Overview </a:t>
            </a:r>
            <a:r>
              <a:rPr lang="en-US" sz="1800" dirty="0"/>
              <a:t>– Instructor led session(s) to introduce OT OAC Aviator solutions</a:t>
            </a:r>
          </a:p>
          <a:p>
            <a:pPr lvl="2"/>
            <a:r>
              <a:rPr lang="en-US" sz="1600" b="1" dirty="0"/>
              <a:t>Industry-recognized certification: </a:t>
            </a:r>
            <a:r>
              <a:rPr lang="en-US" sz="1800" dirty="0"/>
              <a:t>Ex: Google -</a:t>
            </a:r>
            <a:r>
              <a:rPr lang="en-US" sz="1800" b="1" dirty="0"/>
              <a:t> </a:t>
            </a:r>
            <a:r>
              <a:rPr lang="en-GB" sz="18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Introduction to Generative AI</a:t>
            </a:r>
          </a:p>
          <a:p>
            <a:pPr marL="241200" lvl="2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9525" lvl="1" indent="0">
              <a:buFont typeface="Arial" panose="020B0604020202020204" pitchFamily="34" charset="0"/>
              <a:buNone/>
            </a:pPr>
            <a:r>
              <a:rPr lang="en-US" sz="2000" b="1" u="sng" dirty="0"/>
              <a:t>Phase 2: </a:t>
            </a:r>
            <a:r>
              <a:rPr lang="en-US" sz="2000" b="1" dirty="0"/>
              <a:t>Portfolio specific enablement</a:t>
            </a:r>
          </a:p>
          <a:p>
            <a:pPr lvl="2"/>
            <a:r>
              <a:rPr lang="en-US" sz="1800" b="1" dirty="0"/>
              <a:t>Learn: </a:t>
            </a:r>
            <a:r>
              <a:rPr lang="en-US" sz="1800" dirty="0"/>
              <a:t>Portfolio specific Aviator enablement for</a:t>
            </a:r>
            <a:r>
              <a:rPr lang="en-US" sz="1200" b="1" dirty="0"/>
              <a:t> </a:t>
            </a:r>
            <a:r>
              <a:rPr lang="en-US" sz="1800" dirty="0"/>
              <a:t>OSM, DevOps, Cybersecurity through classroom training</a:t>
            </a:r>
          </a:p>
          <a:p>
            <a:pPr lvl="2"/>
            <a:r>
              <a:rPr lang="en-US" sz="1800" b="1" dirty="0"/>
              <a:t>Certification: </a:t>
            </a:r>
            <a:r>
              <a:rPr lang="en-US" sz="1800" dirty="0"/>
              <a:t>OT Aviator certification</a:t>
            </a:r>
            <a:r>
              <a:rPr lang="en-US" sz="1600" b="1" dirty="0"/>
              <a:t> </a:t>
            </a:r>
            <a:r>
              <a:rPr lang="en-US" sz="1600" dirty="0"/>
              <a:t>(w</a:t>
            </a:r>
            <a:r>
              <a:rPr lang="en-IN" sz="1800" dirty="0"/>
              <a:t>hen available)</a:t>
            </a:r>
          </a:p>
          <a:p>
            <a:pPr lvl="2"/>
            <a:r>
              <a:rPr lang="en-IN" sz="1800" b="1" dirty="0"/>
              <a:t>Practice: </a:t>
            </a:r>
            <a:r>
              <a:rPr lang="en-IN" sz="1800" dirty="0"/>
              <a:t>Customer demos for OOTB Aviator capabilities, shadow participation in AI projects</a:t>
            </a:r>
          </a:p>
          <a:p>
            <a:pPr marL="241200" lvl="2" indent="0">
              <a:buFont typeface="Arial" panose="020B0604020202020204" pitchFamily="34" charset="0"/>
              <a:buNone/>
            </a:pPr>
            <a:endParaRPr lang="en-US" sz="1800" b="1" dirty="0"/>
          </a:p>
          <a:p>
            <a:pPr marL="9525" lvl="1" indent="0">
              <a:buFont typeface="Arial" panose="020B0604020202020204" pitchFamily="34" charset="0"/>
              <a:buNone/>
            </a:pPr>
            <a:r>
              <a:rPr lang="en-US" sz="2000" b="1" u="sng" dirty="0"/>
              <a:t>Phase 3: </a:t>
            </a:r>
            <a:r>
              <a:rPr lang="en-US" sz="2000" b="1" dirty="0">
                <a:solidFill>
                  <a:srgbClr val="000000"/>
                </a:solidFill>
              </a:rPr>
              <a:t>Advanced</a:t>
            </a:r>
            <a:r>
              <a:rPr lang="en-US" sz="1400" b="1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000000"/>
                </a:solidFill>
              </a:rPr>
              <a:t>AI enablement </a:t>
            </a:r>
          </a:p>
          <a:p>
            <a:pPr marL="541025" lvl="2" indent="-285750"/>
            <a:r>
              <a:rPr lang="en-US" sz="1800" b="1" dirty="0"/>
              <a:t>Learn: </a:t>
            </a:r>
            <a:r>
              <a:rPr lang="en-US" sz="1800" dirty="0"/>
              <a:t>Generative AI for Developers courses in Google portal or Microsoft</a:t>
            </a:r>
          </a:p>
          <a:p>
            <a:pPr lvl="2"/>
            <a:r>
              <a:rPr lang="en-US" sz="1800" b="1" dirty="0"/>
              <a:t>Practice: </a:t>
            </a:r>
            <a:r>
              <a:rPr lang="en-US" sz="1800" dirty="0"/>
              <a:t>Work as a group on internal AI initiatives and develop prototypes</a:t>
            </a:r>
          </a:p>
          <a:p>
            <a:pPr lvl="2"/>
            <a:r>
              <a:rPr lang="en-US" sz="1800" b="1" dirty="0"/>
              <a:t>Participate in AI projects: </a:t>
            </a:r>
            <a:r>
              <a:rPr lang="en-US" sz="1800" dirty="0"/>
              <a:t>Work on actual customer projects</a:t>
            </a:r>
          </a:p>
          <a:p>
            <a:pPr marL="9525" lvl="1" indent="0">
              <a:buFont typeface="Arial" panose="020B0604020202020204" pitchFamily="34" charset="0"/>
              <a:buNone/>
            </a:pPr>
            <a:endParaRPr lang="en-US" sz="1400" dirty="0"/>
          </a:p>
          <a:p>
            <a:pPr lvl="1"/>
            <a:endParaRPr lang="en-US" altLang="en-US" sz="9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215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48998-B979-EF92-C162-9B7AE5A7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16F8A-D87B-F0CF-0701-0D44894CE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General AI enablement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290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39FA5-E77B-7B06-4599-9AB733E6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8100"/>
            <a:ext cx="10972800" cy="571500"/>
          </a:xfrm>
        </p:spPr>
        <p:txBody>
          <a:bodyPr/>
          <a:lstStyle/>
          <a:p>
            <a:r>
              <a:rPr lang="en-IN" dirty="0"/>
              <a:t>Phase 1 - General / Common Enablement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2E85DD9-7BDC-B918-0A8A-C5CFB5491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466516"/>
              </p:ext>
            </p:extLst>
          </p:nvPr>
        </p:nvGraphicFramePr>
        <p:xfrm>
          <a:off x="114299" y="609600"/>
          <a:ext cx="11963402" cy="5503133"/>
        </p:xfrm>
        <a:graphic>
          <a:graphicData uri="http://schemas.openxmlformats.org/drawingml/2006/table">
            <a:tbl>
              <a:tblPr firstRow="1" bandRow="1"/>
              <a:tblGrid>
                <a:gridCol w="2438401">
                  <a:extLst>
                    <a:ext uri="{9D8B030D-6E8A-4147-A177-3AD203B41FA5}">
                      <a16:colId xmlns:a16="http://schemas.microsoft.com/office/drawing/2014/main" val="3289711899"/>
                    </a:ext>
                  </a:extLst>
                </a:gridCol>
                <a:gridCol w="1677152">
                  <a:extLst>
                    <a:ext uri="{9D8B030D-6E8A-4147-A177-3AD203B41FA5}">
                      <a16:colId xmlns:a16="http://schemas.microsoft.com/office/drawing/2014/main" val="1598416476"/>
                    </a:ext>
                  </a:extLst>
                </a:gridCol>
                <a:gridCol w="1142540">
                  <a:extLst>
                    <a:ext uri="{9D8B030D-6E8A-4147-A177-3AD203B41FA5}">
                      <a16:colId xmlns:a16="http://schemas.microsoft.com/office/drawing/2014/main" val="3223388685"/>
                    </a:ext>
                  </a:extLst>
                </a:gridCol>
                <a:gridCol w="6705309">
                  <a:extLst>
                    <a:ext uri="{9D8B030D-6E8A-4147-A177-3AD203B41FA5}">
                      <a16:colId xmlns:a16="http://schemas.microsoft.com/office/drawing/2014/main" val="282533756"/>
                    </a:ext>
                  </a:extLst>
                </a:gridCol>
              </a:tblGrid>
              <a:tr h="3990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Topic</a:t>
                      </a:r>
                    </a:p>
                  </a:txBody>
                  <a:tcPr>
                    <a:lnL w="12700" cmpd="sng">
                      <a:solidFill>
                        <a:srgbClr val="00008B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Duration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Details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00008B"/>
                      </a:solidFill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152319"/>
                  </a:ext>
                </a:extLst>
              </a:tr>
              <a:tr h="6886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Introduction &amp; Program Overview</a:t>
                      </a:r>
                    </a:p>
                  </a:txBody>
                  <a:tcPr>
                    <a:lnL w="12700" cmpd="sng">
                      <a:solidFill>
                        <a:srgbClr val="00008B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Teams Meeting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1.5 Hrs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730" dirty="0">
                          <a:solidFill>
                            <a:schemeClr val="tx1"/>
                          </a:solidFill>
                        </a:rPr>
                        <a:t>Introducing initiative, resources available etc.</a:t>
                      </a:r>
                      <a:endParaRPr lang="en-IN" sz="173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00008B"/>
                      </a:solidFill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585632"/>
                  </a:ext>
                </a:extLst>
              </a:tr>
              <a:tr h="3990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OT Aviator Overview</a:t>
                      </a:r>
                    </a:p>
                  </a:txBody>
                  <a:tcPr>
                    <a:lnL w="12700" cmpd="sng">
                      <a:solidFill>
                        <a:srgbClr val="00008B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12191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30" dirty="0">
                          <a:solidFill>
                            <a:schemeClr val="tx1"/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Recording</a:t>
                      </a:r>
                      <a:endParaRPr lang="en-IN" sz="173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1.5 Hrs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12191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Overview of all OT Aviator products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00008B"/>
                      </a:solidFill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56959"/>
                  </a:ext>
                </a:extLst>
              </a:tr>
              <a:tr h="3990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OSM Aviator</a:t>
                      </a:r>
                    </a:p>
                  </a:txBody>
                  <a:tcPr>
                    <a:lnL w="12700" cmpd="sng">
                      <a:solidFill>
                        <a:srgbClr val="00008B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12191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Teams Meeting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1 Hr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12191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SMAX &amp; OpsB Aviator – interactive session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00008B"/>
                      </a:solidFill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699563"/>
                  </a:ext>
                </a:extLst>
              </a:tr>
              <a:tr h="3990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DevOps Aviator</a:t>
                      </a:r>
                    </a:p>
                  </a:txBody>
                  <a:tcPr>
                    <a:lnL w="12700" cmpd="sng">
                      <a:solidFill>
                        <a:srgbClr val="00008B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12191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Teams Meeting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30 min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12191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Value Edge Aviator – interactive session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00008B"/>
                      </a:solidFill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178761"/>
                  </a:ext>
                </a:extLst>
              </a:tr>
              <a:tr h="3990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12191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Cybersecurity Aviator</a:t>
                      </a:r>
                    </a:p>
                  </a:txBody>
                  <a:tcPr>
                    <a:lnL w="12700" cmpd="sng">
                      <a:solidFill>
                        <a:srgbClr val="00008B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12191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Teams Meeting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30 min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Fortify Aviator – Interactive session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00008B"/>
                      </a:solidFill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405431"/>
                  </a:ext>
                </a:extLst>
              </a:tr>
              <a:tr h="3990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730" b="0" dirty="0">
                          <a:solidFill>
                            <a:schemeClr val="tx1"/>
                          </a:solidFill>
                        </a:rPr>
                        <a:t>AI fundamentals</a:t>
                      </a:r>
                    </a:p>
                    <a:p>
                      <a:r>
                        <a:rPr lang="en-US" sz="1730" b="0" dirty="0">
                          <a:solidFill>
                            <a:schemeClr val="tx1"/>
                          </a:solidFill>
                        </a:rPr>
                        <a:t>(Essential)</a:t>
                      </a:r>
                      <a:endParaRPr lang="en-IN" sz="17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00008B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730" dirty="0">
                          <a:solidFill>
                            <a:schemeClr val="tx1"/>
                          </a:solidFill>
                        </a:rPr>
                        <a:t>Self paced trainings on Google partner portal</a:t>
                      </a:r>
                      <a:endParaRPr lang="en-IN" sz="173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Appx 5 Hrs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73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Generative AI Fundamentals</a:t>
                      </a:r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 – 30 min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730" dirty="0">
                          <a:hlinkClick r:id="rId4"/>
                        </a:rPr>
                        <a:t>Introduction to Large Language Models</a:t>
                      </a:r>
                      <a:r>
                        <a:rPr lang="en-IN" sz="1730" dirty="0"/>
                        <a:t> </a:t>
                      </a:r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– 1 hr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3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Generative AI for Business Leaders</a:t>
                      </a:r>
                      <a:r>
                        <a:rPr lang="en-US" sz="173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1 </a:t>
                      </a:r>
                      <a:r>
                        <a:rPr lang="en-US" sz="173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  <a:r>
                        <a:rPr lang="en-US" sz="173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45 M</a:t>
                      </a:r>
                      <a:r>
                        <a:rPr lang="en-US" sz="173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730" dirty="0">
                          <a:hlinkClick r:id="rId6"/>
                        </a:rPr>
                        <a:t>Introduction to Vertex AI Studio</a:t>
                      </a:r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 – 2 Hrs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00008B"/>
                      </a:solidFill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926772"/>
                  </a:ext>
                </a:extLst>
              </a:tr>
              <a:tr h="3990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US" sz="1730" b="0" dirty="0">
                          <a:solidFill>
                            <a:schemeClr val="tx1"/>
                          </a:solidFill>
                        </a:rPr>
                        <a:t>AI fundamentals</a:t>
                      </a:r>
                    </a:p>
                    <a:p>
                      <a:r>
                        <a:rPr lang="en-US" sz="1730" b="0" dirty="0">
                          <a:solidFill>
                            <a:schemeClr val="tx1"/>
                          </a:solidFill>
                        </a:rPr>
                        <a:t>(Additional)</a:t>
                      </a:r>
                      <a:endParaRPr lang="en-IN" sz="173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12191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73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00008B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12191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30" dirty="0">
                          <a:solidFill>
                            <a:schemeClr val="tx1"/>
                          </a:solidFill>
                        </a:rPr>
                        <a:t>Self paced trainings on Google partner portal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Appx 15 Hrs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73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Text Prompt Engineering Techniques</a:t>
                      </a:r>
                      <a:r>
                        <a:rPr lang="en-IN" sz="173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73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8 Hrs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73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Introduction to Responsible AI</a:t>
                      </a:r>
                      <a:r>
                        <a:rPr lang="en-IN" sz="173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73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30 min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3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Responsible AI Applying AI Principles with Google Cloud </a:t>
                      </a:r>
                      <a:r>
                        <a:rPr lang="en-US" sz="173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2 </a:t>
                      </a:r>
                      <a:r>
                        <a:rPr lang="en-US" sz="173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endParaRPr lang="en-US" sz="173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3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Boost Productivity with Gemini in </a:t>
                      </a:r>
                      <a:r>
                        <a:rPr lang="en-US" sz="173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BigQuery</a:t>
                      </a:r>
                      <a:r>
                        <a:rPr lang="en-US" sz="173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3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4 </a:t>
                      </a:r>
                      <a:r>
                        <a:rPr lang="en-US" sz="173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endParaRPr lang="en-US" sz="173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730" dirty="0">
                          <a:solidFill>
                            <a:schemeClr val="tx1"/>
                          </a:solidFill>
                          <a:hlinkClick r:id="rId11"/>
                        </a:rPr>
                        <a:t>Final Quiz – Generative AI Fundamentals</a:t>
                      </a:r>
                      <a:r>
                        <a:rPr lang="en-IN" sz="1730" dirty="0">
                          <a:solidFill>
                            <a:schemeClr val="tx1"/>
                          </a:solidFill>
                        </a:rPr>
                        <a:t> – 30 minutes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00008B"/>
                      </a:solidFill>
                    </a:lnR>
                    <a:lnT w="12700" cmpd="sng">
                      <a:solidFill>
                        <a:srgbClr val="00008B"/>
                      </a:solidFill>
                    </a:lnT>
                    <a:lnB w="12700" cmpd="sng">
                      <a:solidFill>
                        <a:srgbClr val="00008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8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611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57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7AD76-EAC0-8E3A-298C-D5ADE643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FA444-2CCA-3297-3817-45866A3C3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14300"/>
            <a:ext cx="11963400" cy="571500"/>
          </a:xfrm>
        </p:spPr>
        <p:txBody>
          <a:bodyPr/>
          <a:lstStyle/>
          <a:p>
            <a:r>
              <a:rPr lang="en-IN" dirty="0"/>
              <a:t>Phase 1 - Execution Plan Sample </a:t>
            </a:r>
            <a:r>
              <a:rPr lang="en-IN" sz="2800" dirty="0"/>
              <a:t>(Using Google learning portal)</a:t>
            </a:r>
            <a:endParaRPr lang="en-US" dirty="0"/>
          </a:p>
        </p:txBody>
      </p:sp>
      <p:graphicFrame>
        <p:nvGraphicFramePr>
          <p:cNvPr id="3" name="Content Placeholder 7">
            <a:extLst>
              <a:ext uri="{FF2B5EF4-FFF2-40B4-BE49-F238E27FC236}">
                <a16:creationId xmlns:a16="http://schemas.microsoft.com/office/drawing/2014/main" id="{57F41D92-FD69-0F3C-A936-D4A80CF21E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83810"/>
              </p:ext>
            </p:extLst>
          </p:nvPr>
        </p:nvGraphicFramePr>
        <p:xfrm>
          <a:off x="245800" y="634677"/>
          <a:ext cx="11687699" cy="3934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6758AB3B-8DDC-7528-2B82-C1FA1CCBE4DC}"/>
              </a:ext>
            </a:extLst>
          </p:cNvPr>
          <p:cNvSpPr/>
          <p:nvPr/>
        </p:nvSpPr>
        <p:spPr>
          <a:xfrm>
            <a:off x="127322" y="5463251"/>
            <a:ext cx="11945073" cy="914400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212E3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9E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investment – Appx 4 to 5 Hours every week. Interactive sessions will be planned on alternate days. Self learning can be done as per flexible timings.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400" b="1" kern="0" dirty="0">
                <a:solidFill>
                  <a:srgbClr val="0079EF"/>
                </a:solidFill>
                <a:latin typeface="Calibri" panose="020F0502020204030204"/>
              </a:rPr>
              <a:t>Estimated duration – 8 weeks.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kern="0" dirty="0">
                <a:solidFill>
                  <a:srgbClr val="0079EF"/>
                </a:solidFill>
                <a:latin typeface="Calibri" panose="020F0502020204030204"/>
              </a:rPr>
              <a:t>Self learning – Google partner portal - </a:t>
            </a:r>
            <a:r>
              <a:rPr lang="en-US" sz="1400" dirty="0">
                <a:hlinkClick r:id="rId7"/>
              </a:rPr>
              <a:t>Introduction to Generative AI | Google Cloud Skills Boost for Partners</a:t>
            </a:r>
            <a:endParaRPr lang="en-US" sz="1400" b="1" kern="0" dirty="0">
              <a:solidFill>
                <a:srgbClr val="0079EF"/>
              </a:solidFill>
              <a:latin typeface="Calibri" panose="020F050202020403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BBF47A-54C4-0F30-D980-B18703402D4B}"/>
              </a:ext>
            </a:extLst>
          </p:cNvPr>
          <p:cNvSpPr/>
          <p:nvPr/>
        </p:nvSpPr>
        <p:spPr>
          <a:xfrm>
            <a:off x="165901" y="4557544"/>
            <a:ext cx="2062222" cy="8941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IN" sz="1400" dirty="0">
                <a:solidFill>
                  <a:schemeClr val="tx1"/>
                </a:solidFill>
              </a:rPr>
              <a:t>Outcome: Provide overview of OT Aviator solution through Online sessions.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6118A9-ED04-74BD-726E-547DDDAE5C9D}"/>
              </a:ext>
            </a:extLst>
          </p:cNvPr>
          <p:cNvSpPr/>
          <p:nvPr/>
        </p:nvSpPr>
        <p:spPr>
          <a:xfrm>
            <a:off x="2523828" y="4577814"/>
            <a:ext cx="2235832" cy="89413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IN" sz="1400" dirty="0">
                <a:solidFill>
                  <a:schemeClr val="tx1"/>
                </a:solidFill>
              </a:rPr>
              <a:t>Outcome: Understanding of AI fundamentals.</a:t>
            </a:r>
          </a:p>
          <a:p>
            <a:pPr algn="ctr">
              <a:spcAft>
                <a:spcPts val="600"/>
              </a:spcAft>
            </a:pPr>
            <a:r>
              <a:rPr lang="en-IN" sz="1400" dirty="0">
                <a:solidFill>
                  <a:schemeClr val="tx1"/>
                </a:solidFill>
              </a:rPr>
              <a:t>Weekly catch up sessions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658F62-C6F4-6E71-25F8-DE3B08E4DD34}"/>
              </a:ext>
            </a:extLst>
          </p:cNvPr>
          <p:cNvSpPr/>
          <p:nvPr/>
        </p:nvSpPr>
        <p:spPr>
          <a:xfrm>
            <a:off x="5162309" y="4560426"/>
            <a:ext cx="2169964" cy="89413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IN" sz="1400" dirty="0">
                <a:solidFill>
                  <a:schemeClr val="tx1"/>
                </a:solidFill>
              </a:rPr>
              <a:t>Weekly sessions with mentors to seek clarifications and guidance.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964C2E-33A5-300B-89E9-8AA8B4266A5B}"/>
              </a:ext>
            </a:extLst>
          </p:cNvPr>
          <p:cNvSpPr/>
          <p:nvPr/>
        </p:nvSpPr>
        <p:spPr>
          <a:xfrm>
            <a:off x="7865815" y="4560425"/>
            <a:ext cx="1837082" cy="89413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IN" sz="1400" dirty="0">
                <a:solidFill>
                  <a:schemeClr val="tx1"/>
                </a:solidFill>
              </a:rPr>
              <a:t>Revision session. Seek clarification from mentors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F01BD6-B26B-6F00-0C47-48B665D8E76F}"/>
              </a:ext>
            </a:extLst>
          </p:cNvPr>
          <p:cNvSpPr/>
          <p:nvPr/>
        </p:nvSpPr>
        <p:spPr>
          <a:xfrm>
            <a:off x="10236439" y="4554664"/>
            <a:ext cx="1837082" cy="89413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IN" sz="1400" dirty="0">
                <a:solidFill>
                  <a:schemeClr val="tx1"/>
                </a:solidFill>
              </a:rPr>
              <a:t>Obtain Google certification / Badge – </a:t>
            </a:r>
            <a:r>
              <a:rPr lang="en-IN" sz="1400" dirty="0">
                <a:solidFill>
                  <a:schemeClr val="tx1"/>
                </a:solidFill>
                <a:hlinkClick r:id="rId8"/>
              </a:rPr>
              <a:t>Intro to gen AI </a:t>
            </a:r>
            <a:endParaRPr lang="en-IN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502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AF07-E0D9-F9E9-FBD5-C2D2533AF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1 – Additional Material (Internal)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B7357-8D8B-9BFC-9531-1377CFE878CB}"/>
              </a:ext>
            </a:extLst>
          </p:cNvPr>
          <p:cNvSpPr txBox="1"/>
          <p:nvPr/>
        </p:nvSpPr>
        <p:spPr>
          <a:xfrm>
            <a:off x="457198" y="1046636"/>
            <a:ext cx="11441577" cy="37920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508000" lvl="1" indent="-28575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IN" dirty="0"/>
              <a:t>Landing page for all internal Aviator resources -</a:t>
            </a:r>
            <a:r>
              <a:rPr lang="en-IN" dirty="0">
                <a:hlinkClick r:id="rId2"/>
              </a:rPr>
              <a:t> opentext.ai – OpenText Central</a:t>
            </a:r>
            <a:endParaRPr lang="en-US" dirty="0">
              <a:hlinkClick r:id="rId3"/>
            </a:endParaRPr>
          </a:p>
          <a:p>
            <a:pPr marL="508000" lvl="1" indent="-28575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>
                <a:hlinkClick r:id="rId3"/>
              </a:rPr>
              <a:t>Using AI Tools – OpenText Navigator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08000" lvl="1" indent="-28575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OllieAI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videos 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https://corporateit.opentext.com/ollie-ai/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08000" lvl="1" indent="-28575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1800" b="1" dirty="0" err="1">
                <a:effectLst/>
                <a:latin typeface="inherit"/>
              </a:rPr>
              <a:t>MyAviator</a:t>
            </a:r>
            <a:r>
              <a:rPr lang="en-US" sz="1800" b="1" dirty="0">
                <a:effectLst/>
                <a:latin typeface="inherit"/>
              </a:rPr>
              <a:t> for </a:t>
            </a:r>
            <a:r>
              <a:rPr lang="en-US" sz="1800" b="1" dirty="0" err="1">
                <a:effectLst/>
                <a:latin typeface="inherit"/>
              </a:rPr>
              <a:t>OllieAI</a:t>
            </a:r>
            <a:r>
              <a:rPr lang="en-US" sz="1800" b="1" dirty="0">
                <a:effectLst/>
                <a:latin typeface="inherit"/>
              </a:rPr>
              <a:t> : </a:t>
            </a:r>
            <a:r>
              <a:rPr lang="en-US" sz="1800" b="0" i="0" u="none" strike="noStrike" dirty="0">
                <a:solidFill>
                  <a:srgbClr val="2E3D98"/>
                </a:solidFill>
                <a:effectLst/>
                <a:latin typeface="inherit"/>
                <a:hlinkClick r:id="rId5"/>
              </a:rPr>
              <a:t>Watch the video</a:t>
            </a:r>
            <a:endParaRPr lang="en-US" dirty="0">
              <a:latin typeface="Arial" panose="020B0604020202020204" pitchFamily="34" charset="0"/>
            </a:endParaRPr>
          </a:p>
          <a:p>
            <a:pPr lvl="3"/>
            <a:r>
              <a:rPr lang="en-US" sz="1800" b="0" i="0" dirty="0">
                <a:solidFill>
                  <a:srgbClr val="666666"/>
                </a:solidFill>
                <a:effectLst/>
                <a:latin typeface="OpenText Sans"/>
              </a:rPr>
              <a:t>Create your own personal workspaces and add your own content to use with Aviator​ </a:t>
            </a:r>
          </a:p>
          <a:p>
            <a:pPr lvl="3"/>
            <a:r>
              <a:rPr lang="en-US" sz="1800" b="0" i="0" dirty="0">
                <a:solidFill>
                  <a:srgbClr val="666666"/>
                </a:solidFill>
                <a:effectLst/>
                <a:latin typeface="OpenText Sans"/>
              </a:rPr>
              <a:t>Link to other areas of </a:t>
            </a:r>
            <a:r>
              <a:rPr lang="en-US" sz="1800" b="0" i="0" dirty="0" err="1">
                <a:solidFill>
                  <a:srgbClr val="666666"/>
                </a:solidFill>
                <a:effectLst/>
                <a:latin typeface="OpenText Sans"/>
              </a:rPr>
              <a:t>OllieAI</a:t>
            </a:r>
            <a:r>
              <a:rPr lang="en-US" sz="1800" b="0" i="0" dirty="0">
                <a:solidFill>
                  <a:srgbClr val="666666"/>
                </a:solidFill>
                <a:effectLst/>
                <a:latin typeface="OpenText Sans"/>
              </a:rPr>
              <a:t> like the Customer Use Case library and Product​</a:t>
            </a:r>
          </a:p>
          <a:p>
            <a:pPr marL="508000" lvl="1" indent="-28575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1800" dirty="0"/>
              <a:t>Aviator blogs - </a:t>
            </a:r>
            <a:r>
              <a:rPr lang="en-US" dirty="0">
                <a:hlinkClick r:id="rId6"/>
              </a:rPr>
              <a:t>Welcome to opentext.ai - OpenText Blogs</a:t>
            </a:r>
            <a:endParaRPr lang="en-US" sz="1800" dirty="0"/>
          </a:p>
          <a:p>
            <a:pPr marL="222250" lvl="1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494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34D4F-664E-F8A8-8D9D-EC8EEC1C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3D0A-CBA5-9C00-3A37-569BB1720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96453"/>
            <a:ext cx="10972800" cy="609600"/>
          </a:xfrm>
        </p:spPr>
        <p:txBody>
          <a:bodyPr/>
          <a:lstStyle/>
          <a:p>
            <a:r>
              <a:rPr lang="en-IN" dirty="0"/>
              <a:t>Phase 1 – Additional Material (External)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74D90-63B6-DB9F-BE20-7656D50D7A76}"/>
              </a:ext>
            </a:extLst>
          </p:cNvPr>
          <p:cNvSpPr txBox="1"/>
          <p:nvPr/>
        </p:nvSpPr>
        <p:spPr>
          <a:xfrm>
            <a:off x="104172" y="706053"/>
            <a:ext cx="11956648" cy="56387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508000" lvl="1" indent="-28575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1800" dirty="0"/>
              <a:t>FREE self-guided AI training courtesy of our partners at Microsoft </a:t>
            </a:r>
          </a:p>
          <a:p>
            <a:pPr marL="965200" lvl="2" indent="-28575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1600" dirty="0"/>
              <a:t>Visit </a:t>
            </a:r>
            <a:r>
              <a:rPr lang="en-US" sz="1600" dirty="0">
                <a:hlinkClick r:id="rId2"/>
              </a:rPr>
              <a:t>https://esi.microsoft.com/landing</a:t>
            </a:r>
            <a:r>
              <a:rPr lang="en-US" sz="1600" dirty="0"/>
              <a:t> </a:t>
            </a:r>
          </a:p>
          <a:p>
            <a:pPr marL="965200" lvl="2" indent="-28575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1600" dirty="0"/>
              <a:t>Enter your OpenText email address. ​Agree with the ESI Learning Opportunities Agreement. ​Select your learning preferences. </a:t>
            </a:r>
          </a:p>
          <a:p>
            <a:pPr marL="508000" lvl="1" indent="-28575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1800" dirty="0"/>
              <a:t>FREE self-guided AI fundamentals training, courtesy of our partners at Google </a:t>
            </a:r>
          </a:p>
          <a:p>
            <a:pPr marL="965200" lvl="2" indent="-28575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1600" dirty="0"/>
              <a:t>To access the Google Cloud Skills Boost site, please visit </a:t>
            </a:r>
            <a:r>
              <a:rPr lang="en-US" sz="1600" dirty="0">
                <a:hlinkClick r:id="rId3"/>
              </a:rPr>
              <a:t>https://partner.cloudskillsboost.google</a:t>
            </a:r>
            <a:r>
              <a:rPr lang="en-US" sz="1600" dirty="0"/>
              <a:t>  ​</a:t>
            </a:r>
          </a:p>
          <a:p>
            <a:pPr marL="965200" lvl="2" indent="-28575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1600" dirty="0"/>
              <a:t>If you have not done so previously, click “Join” to create an account. ​On the following screen, make sure to use/enter your OpenText email address. </a:t>
            </a:r>
          </a:p>
          <a:p>
            <a:pPr marL="222250" lvl="1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There are certifications also available in both the online learning portals</a:t>
            </a:r>
          </a:p>
          <a:p>
            <a:pPr marL="508000" lvl="1" indent="-28575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Udemy courses – require approvals from manager. Fill up the </a:t>
            </a:r>
            <a:r>
              <a:rPr lang="en-US" dirty="0">
                <a:hlinkClick r:id="rId4"/>
              </a:rPr>
              <a:t>form</a:t>
            </a:r>
            <a:r>
              <a:rPr lang="en-US" dirty="0"/>
              <a:t> in </a:t>
            </a:r>
            <a:r>
              <a:rPr lang="en-US" dirty="0">
                <a:hlinkClick r:id="rId5"/>
              </a:rPr>
              <a:t>PS academy for consultants</a:t>
            </a:r>
            <a:r>
              <a:rPr lang="en-US" dirty="0"/>
              <a:t>. Once approved access </a:t>
            </a:r>
            <a:r>
              <a:rPr lang="en-US" dirty="0">
                <a:hlinkClick r:id="rId6"/>
              </a:rPr>
              <a:t>Udem</a:t>
            </a:r>
            <a:r>
              <a:rPr lang="en-US" dirty="0"/>
              <a:t>y using your OpenText email ID.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674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EBBB-D11C-FF2A-6642-E5892AC1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5DEC1-5816-4BA5-411D-11BB4009D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Portfolio specific enablement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670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C2B0A-4CED-4684-A0D9-087C61A62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C1B4-6E76-78A5-86F3-4B8822346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2 - Domain Specific Enablement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C6CBD0-876F-A453-B53F-B4A18D8CA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583274"/>
              </p:ext>
            </p:extLst>
          </p:nvPr>
        </p:nvGraphicFramePr>
        <p:xfrm>
          <a:off x="192911" y="1143000"/>
          <a:ext cx="11806177" cy="423948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678248">
                  <a:extLst>
                    <a:ext uri="{9D8B030D-6E8A-4147-A177-3AD203B41FA5}">
                      <a16:colId xmlns:a16="http://schemas.microsoft.com/office/drawing/2014/main" val="3289711899"/>
                    </a:ext>
                  </a:extLst>
                </a:gridCol>
                <a:gridCol w="3497818">
                  <a:extLst>
                    <a:ext uri="{9D8B030D-6E8A-4147-A177-3AD203B41FA5}">
                      <a16:colId xmlns:a16="http://schemas.microsoft.com/office/drawing/2014/main" val="1598416476"/>
                    </a:ext>
                  </a:extLst>
                </a:gridCol>
                <a:gridCol w="5630111">
                  <a:extLst>
                    <a:ext uri="{9D8B030D-6E8A-4147-A177-3AD203B41FA5}">
                      <a16:colId xmlns:a16="http://schemas.microsoft.com/office/drawing/2014/main" val="282533756"/>
                    </a:ext>
                  </a:extLst>
                </a:gridCol>
              </a:tblGrid>
              <a:tr h="39900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152319"/>
                  </a:ext>
                </a:extLst>
              </a:tr>
              <a:tr h="68869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OSM Aviator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1) Self learning through earlier training sessions, access to labs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2) Instructor Led classroom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R"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Recorded enablement sessions &amp; presentation - </a:t>
                      </a:r>
                      <a:r>
                        <a:rPr lang="en-IN" sz="1800" u="sng" kern="1200" dirty="0">
                          <a:solidFill>
                            <a:schemeClr val="dk1"/>
                          </a:solidFill>
                          <a:effectLst/>
                          <a:hlinkClick r:id="rId2"/>
                        </a:rPr>
                        <a:t>Microsoft Teams </a:t>
                      </a:r>
                      <a:r>
                        <a:rPr lang="en-IN" sz="1800" u="none" kern="1200" dirty="0">
                          <a:solidFill>
                            <a:schemeClr val="tx1"/>
                          </a:solidFill>
                          <a:effectLst/>
                        </a:rPr>
                        <a:t>(IT Operations Aviator enablement)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u="sng" kern="1200" dirty="0">
                          <a:solidFill>
                            <a:schemeClr val="tx1"/>
                          </a:solidFill>
                          <a:effectLst/>
                        </a:rPr>
                        <a:t>     </a:t>
                      </a:r>
                      <a:r>
                        <a:rPr lang="en-IN" sz="1800" u="none" kern="1200" dirty="0">
                          <a:solidFill>
                            <a:schemeClr val="tx1"/>
                          </a:solidFill>
                          <a:effectLst/>
                        </a:rPr>
                        <a:t>2 to 3 shared labs to be provided to practice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u="none" kern="1200" dirty="0">
                          <a:solidFill>
                            <a:schemeClr val="tx1"/>
                          </a:solidFill>
                          <a:effectLst/>
                        </a:rPr>
                        <a:t>2) Classroom session – reinforce learning and to clarify doubts</a:t>
                      </a:r>
                      <a:endParaRPr lang="en-IN" u="none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 days classroom session – 11 topics with lab for 5 topics (&gt;60%) and demo of Aviators &lt;Refer slide 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7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585632"/>
                  </a:ext>
                </a:extLst>
              </a:tr>
              <a:tr h="399007">
                <a:tc>
                  <a:txBody>
                    <a:bodyPr/>
                    <a:lstStyle/>
                    <a:p>
                      <a:r>
                        <a:rPr lang="en-IN" b="0" dirty="0"/>
                        <a:t>DevOps (</a:t>
                      </a:r>
                      <a:r>
                        <a:rPr lang="en-IN" b="0" dirty="0" err="1"/>
                        <a:t>ValueEdge</a:t>
                      </a:r>
                      <a:r>
                        <a:rPr lang="en-IN" b="0" dirty="0"/>
                        <a:t>) Aviator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1) Self Paced courses 2) Instructor 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R"/>
                      </a:pPr>
                      <a:r>
                        <a:rPr lang="en-IN" dirty="0"/>
                        <a:t>Recorded enablement – </a:t>
                      </a:r>
                      <a:r>
                        <a:rPr lang="en-IN" dirty="0">
                          <a:hlinkClick r:id="rId4"/>
                        </a:rPr>
                        <a:t>ALM Aviator Training</a:t>
                      </a:r>
                      <a:endParaRPr lang="en-IN" dirty="0"/>
                    </a:p>
                    <a:p>
                      <a:pPr marL="342900" indent="-342900">
                        <a:buAutoNum type="arabicParenR"/>
                      </a:pPr>
                      <a:r>
                        <a:rPr lang="en-IN" dirty="0"/>
                        <a:t>Instructor led classroom session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601207"/>
                  </a:ext>
                </a:extLst>
              </a:tr>
              <a:tr h="399007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Cybersecurity Aviator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1) Self Paced courses 2) Instructor 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Self learning – 6 topics of 2 hours each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&lt;Refer slide </a:t>
                      </a:r>
                      <a:r>
                        <a:rPr lang="en-IN" dirty="0">
                          <a:hlinkClick r:id="rId5" action="ppaction://hlinksldjump"/>
                        </a:rPr>
                        <a:t>8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Instructor led classroom session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699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885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72BA3-CFF6-E2F1-AF46-366E1F735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C0833-FA15-09F8-102B-FD6F46517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96453"/>
            <a:ext cx="10972800" cy="609600"/>
          </a:xfrm>
        </p:spPr>
        <p:txBody>
          <a:bodyPr/>
          <a:lstStyle/>
          <a:p>
            <a:r>
              <a:rPr lang="en-IN" dirty="0"/>
              <a:t>Phase 2 - SMAX Aviator Classroom Training Topics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AC0DF-C64C-8A45-8313-0096455A4FC9}"/>
              </a:ext>
            </a:extLst>
          </p:cNvPr>
          <p:cNvSpPr txBox="1"/>
          <p:nvPr/>
        </p:nvSpPr>
        <p:spPr>
          <a:xfrm>
            <a:off x="219919" y="798649"/>
            <a:ext cx="11817752" cy="4724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spcAft>
                <a:spcPts val="600"/>
              </a:spcAft>
              <a:buAutoNum type="arabicParenR"/>
            </a:pPr>
            <a:r>
              <a:rPr lang="en-IN" dirty="0"/>
              <a:t>Introduction of SMAX Aviator – Day 1: 1 Hr</a:t>
            </a:r>
          </a:p>
          <a:p>
            <a:pPr marL="342900" indent="-342900">
              <a:spcAft>
                <a:spcPts val="600"/>
              </a:spcAft>
              <a:buAutoNum type="arabicParenR"/>
            </a:pPr>
            <a:r>
              <a:rPr lang="en-IN" dirty="0"/>
              <a:t>AI Use cases &amp; Capabilities – Day 1:  1.5 Hrs</a:t>
            </a:r>
          </a:p>
          <a:p>
            <a:pPr marL="342900" indent="-342900">
              <a:spcAft>
                <a:spcPts val="600"/>
              </a:spcAft>
              <a:buAutoNum type="arabicParenR"/>
            </a:pPr>
            <a:r>
              <a:rPr lang="en-IN" dirty="0"/>
              <a:t>Aviator Service Architecture &amp; deployment options, customer onboarding (</a:t>
            </a:r>
            <a:r>
              <a:rPr lang="en-IN" dirty="0">
                <a:highlight>
                  <a:srgbClr val="FFFF00"/>
                </a:highlight>
              </a:rPr>
              <a:t>Lab: </a:t>
            </a:r>
            <a:r>
              <a:rPr lang="en-IN" dirty="0"/>
              <a:t>Integrate your SMAX tenant with SMAX Aviator trial instance) – Day 1: 3 Hrs</a:t>
            </a:r>
          </a:p>
          <a:p>
            <a:pPr marL="342900" indent="-342900">
              <a:spcAft>
                <a:spcPts val="600"/>
              </a:spcAft>
              <a:buAutoNum type="arabicParenR"/>
            </a:pPr>
            <a:r>
              <a:rPr lang="en-IN" dirty="0"/>
              <a:t>Aviator Models (</a:t>
            </a:r>
            <a:r>
              <a:rPr lang="en-IN" dirty="0">
                <a:highlight>
                  <a:srgbClr val="FFFF00"/>
                </a:highlight>
              </a:rPr>
              <a:t>Lab:</a:t>
            </a:r>
            <a:r>
              <a:rPr lang="en-IN" dirty="0"/>
              <a:t> Try OOTB models, Try building new models) – Day 1: 2 Hrs</a:t>
            </a:r>
          </a:p>
          <a:p>
            <a:pPr marL="342900" indent="-342900">
              <a:spcAft>
                <a:spcPts val="600"/>
              </a:spcAft>
              <a:buAutoNum type="arabicParenR"/>
            </a:pPr>
            <a:r>
              <a:rPr lang="en-IN" dirty="0"/>
              <a:t> Aviator Business Rules, Workflows, Sentiment Analysis (</a:t>
            </a:r>
            <a:r>
              <a:rPr lang="en-IN" dirty="0">
                <a:highlight>
                  <a:srgbClr val="FFFF00"/>
                </a:highlight>
              </a:rPr>
              <a:t>Lab: </a:t>
            </a:r>
            <a:r>
              <a:rPr lang="en-IN" dirty="0"/>
              <a:t>Creating sentiment analysis aviator model) – Day 2: 2 Hrs</a:t>
            </a: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en-IN" dirty="0"/>
              <a:t>Change risk analysis (</a:t>
            </a:r>
            <a:r>
              <a:rPr lang="en-IN" dirty="0">
                <a:highlight>
                  <a:srgbClr val="FFFF00"/>
                </a:highlight>
              </a:rPr>
              <a:t>Lab: </a:t>
            </a:r>
            <a:r>
              <a:rPr lang="en-IN" dirty="0"/>
              <a:t>Create risk score aviator model) – Day 2: 1 Hr</a:t>
            </a: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en-IN" dirty="0"/>
              <a:t>Integrating enterprise content (</a:t>
            </a:r>
            <a:r>
              <a:rPr lang="en-IN" dirty="0">
                <a:highlight>
                  <a:srgbClr val="FFFF00"/>
                </a:highlight>
              </a:rPr>
              <a:t>Lab:</a:t>
            </a:r>
            <a:r>
              <a:rPr lang="en-IN" dirty="0"/>
              <a:t> Install and configure IDOL connector for SharePoint)  - Day 2: 2 Hrs</a:t>
            </a: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en-IN" dirty="0"/>
              <a:t>SMAX Aviator licensing &amp; pricing Day 2: 1 Hr</a:t>
            </a:r>
          </a:p>
          <a:p>
            <a:pPr marL="342900" indent="-342900">
              <a:spcAft>
                <a:spcPts val="600"/>
              </a:spcAft>
              <a:buAutoNum type="arabicParenR"/>
            </a:pPr>
            <a:r>
              <a:rPr lang="en-IN" dirty="0"/>
              <a:t>Introduction to OpsB Aviator Use cases &amp; Capabilities – 2 Hr</a:t>
            </a:r>
          </a:p>
          <a:p>
            <a:pPr marL="342900" indent="-342900">
              <a:spcAft>
                <a:spcPts val="600"/>
              </a:spcAft>
              <a:buAutoNum type="arabicParenR"/>
            </a:pPr>
            <a:r>
              <a:rPr lang="en-IN" dirty="0"/>
              <a:t> OpsB Aviator deployment scenarios, licensing – 1 Hr</a:t>
            </a:r>
          </a:p>
          <a:p>
            <a:pPr marL="342900" indent="-342900">
              <a:spcAft>
                <a:spcPts val="600"/>
              </a:spcAft>
              <a:buAutoNum type="arabicParenR"/>
            </a:pPr>
            <a:r>
              <a:rPr lang="en-IN" dirty="0"/>
              <a:t> Demo – 2 Hr</a:t>
            </a: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en-IN" dirty="0"/>
              <a:t> Product roadmap – 1 Hr</a:t>
            </a:r>
          </a:p>
        </p:txBody>
      </p:sp>
    </p:spTree>
    <p:extLst>
      <p:ext uri="{BB962C8B-B14F-4D97-AF65-F5344CB8AC3E}">
        <p14:creationId xmlns:p14="http://schemas.microsoft.com/office/powerpoint/2010/main" val="2234728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F8E3-39EC-9E08-A541-CF5203BB4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AD590-6AF6-1C5A-52F0-77F8179A9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90500"/>
            <a:ext cx="11963400" cy="609600"/>
          </a:xfrm>
        </p:spPr>
        <p:txBody>
          <a:bodyPr/>
          <a:lstStyle/>
          <a:p>
            <a:r>
              <a:rPr lang="en-IN" dirty="0"/>
              <a:t>Phase 2 - Cybersecurity AI Training Topics (Self learning) – 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532596-F7E7-7636-CE06-50A78C97FF94}"/>
              </a:ext>
            </a:extLst>
          </p:cNvPr>
          <p:cNvSpPr txBox="1"/>
          <p:nvPr/>
        </p:nvSpPr>
        <p:spPr>
          <a:xfrm>
            <a:off x="457196" y="1172669"/>
            <a:ext cx="11277601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32323"/>
                </a:solidFill>
                <a:effectLst/>
                <a:latin typeface="Inter"/>
              </a:rPr>
              <a:t>Lecture 1 </a:t>
            </a:r>
            <a:r>
              <a:rPr lang="en-IN" b="0" i="0" dirty="0">
                <a:solidFill>
                  <a:srgbClr val="0066FF"/>
                </a:solidFill>
                <a:effectLst/>
                <a:latin typeface="Inter"/>
                <a:hlinkClick r:id="rId2"/>
              </a:rPr>
              <a:t>Introduction</a:t>
            </a:r>
            <a:r>
              <a:rPr lang="en-IN" b="0" i="0" dirty="0">
                <a:solidFill>
                  <a:srgbClr val="232323"/>
                </a:solidFill>
                <a:effectLst/>
                <a:latin typeface="Inter"/>
              </a:rPr>
              <a:t> 2h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32323"/>
                </a:solidFill>
                <a:effectLst/>
                <a:latin typeface="Inter"/>
              </a:rPr>
              <a:t>Lecture 2 </a:t>
            </a:r>
            <a:r>
              <a:rPr lang="en-IN" b="0" i="0" dirty="0">
                <a:solidFill>
                  <a:srgbClr val="0066FF"/>
                </a:solidFill>
                <a:effectLst/>
                <a:latin typeface="Inter"/>
                <a:hlinkClick r:id="rId3"/>
              </a:rPr>
              <a:t>Network detection and unsupervised learning</a:t>
            </a:r>
            <a:r>
              <a:rPr lang="en-IN" b="0" i="0" dirty="0">
                <a:solidFill>
                  <a:srgbClr val="232323"/>
                </a:solidFill>
                <a:effectLst/>
                <a:latin typeface="Inter"/>
              </a:rPr>
              <a:t> 2h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32323"/>
                </a:solidFill>
                <a:effectLst/>
                <a:latin typeface="Inter"/>
              </a:rPr>
              <a:t>Lecture 3 </a:t>
            </a:r>
            <a:r>
              <a:rPr lang="en-IN" b="0" i="0" dirty="0">
                <a:solidFill>
                  <a:srgbClr val="0066FF"/>
                </a:solidFill>
                <a:effectLst/>
                <a:latin typeface="Inter"/>
                <a:hlinkClick r:id="rId4"/>
              </a:rPr>
              <a:t>Malware detection and supervised learning</a:t>
            </a:r>
            <a:r>
              <a:rPr lang="en-IN" b="0" i="0" dirty="0">
                <a:solidFill>
                  <a:srgbClr val="232323"/>
                </a:solidFill>
                <a:effectLst/>
                <a:latin typeface="Inter"/>
              </a:rPr>
              <a:t> 2h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32323"/>
                </a:solidFill>
                <a:effectLst/>
                <a:latin typeface="Inter"/>
              </a:rPr>
              <a:t>Lecture 4 </a:t>
            </a:r>
            <a:r>
              <a:rPr lang="en-IN" b="0" i="0" dirty="0">
                <a:solidFill>
                  <a:srgbClr val="0066FF"/>
                </a:solidFill>
                <a:effectLst/>
                <a:latin typeface="Inter"/>
                <a:hlinkClick r:id="rId5"/>
              </a:rPr>
              <a:t>DGA Detection and NLP – Part I</a:t>
            </a:r>
            <a:r>
              <a:rPr lang="en-IN" b="0" i="0" dirty="0">
                <a:solidFill>
                  <a:srgbClr val="232323"/>
                </a:solidFill>
                <a:effectLst/>
                <a:latin typeface="Inter"/>
              </a:rPr>
              <a:t> 2h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32323"/>
                </a:solidFill>
                <a:effectLst/>
                <a:latin typeface="Inter"/>
              </a:rPr>
              <a:t>Lecture 5 </a:t>
            </a:r>
            <a:r>
              <a:rPr lang="en-IN" b="0" i="0" dirty="0">
                <a:solidFill>
                  <a:srgbClr val="0066FF"/>
                </a:solidFill>
                <a:effectLst/>
                <a:latin typeface="Inter"/>
                <a:hlinkClick r:id="rId6"/>
              </a:rPr>
              <a:t>Software vulnerability detection and NLP – Part 2</a:t>
            </a:r>
            <a:r>
              <a:rPr lang="en-IN" b="0" i="0" dirty="0">
                <a:solidFill>
                  <a:srgbClr val="232323"/>
                </a:solidFill>
                <a:effectLst/>
                <a:latin typeface="Inter"/>
              </a:rPr>
              <a:t> 2h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32323"/>
                </a:solidFill>
                <a:effectLst/>
                <a:latin typeface="Inter"/>
              </a:rPr>
              <a:t>Lecture 6 </a:t>
            </a:r>
            <a:r>
              <a:rPr lang="en-IN" b="0" i="0" dirty="0">
                <a:solidFill>
                  <a:srgbClr val="0066FF"/>
                </a:solidFill>
                <a:effectLst/>
                <a:latin typeface="Inter"/>
                <a:hlinkClick r:id="rId7"/>
              </a:rPr>
              <a:t>Synthetic data generation and generative methods</a:t>
            </a:r>
            <a:r>
              <a:rPr lang="en-IN" b="0" i="0" dirty="0">
                <a:solidFill>
                  <a:srgbClr val="232323"/>
                </a:solidFill>
                <a:effectLst/>
                <a:latin typeface="Inter"/>
              </a:rPr>
              <a:t> 2h</a:t>
            </a:r>
          </a:p>
          <a:p>
            <a:endParaRPr lang="en-IN" dirty="0"/>
          </a:p>
          <a:p>
            <a:r>
              <a:rPr lang="en-IN" dirty="0"/>
              <a:t>More courses to be added later.</a:t>
            </a:r>
          </a:p>
          <a:p>
            <a:pPr algn="l"/>
            <a:endParaRPr lang="en-IN" b="0" i="0" dirty="0">
              <a:solidFill>
                <a:srgbClr val="232323"/>
              </a:solidFill>
              <a:effectLst/>
              <a:latin typeface="Inter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D94ABB-E0DD-2257-FF63-F21DA22B90DA}"/>
              </a:ext>
            </a:extLst>
          </p:cNvPr>
          <p:cNvSpPr txBox="1">
            <a:spLocks/>
          </p:cNvSpPr>
          <p:nvPr/>
        </p:nvSpPr>
        <p:spPr bwMode="auto">
          <a:xfrm>
            <a:off x="364600" y="3902319"/>
            <a:ext cx="11277601" cy="6346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7200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2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5pPr>
            <a:lvl6pPr marL="609562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6pPr>
            <a:lvl7pPr marL="1219124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7pPr>
            <a:lvl8pPr marL="1828686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8pPr>
            <a:lvl9pPr marL="2438248" algn="l" rtl="0" eaLnBrk="1" fontAlgn="base" hangingPunct="1">
              <a:spcBef>
                <a:spcPct val="0"/>
              </a:spcBef>
              <a:spcAft>
                <a:spcPct val="0"/>
              </a:spcAft>
              <a:defRPr sz="4267">
                <a:solidFill>
                  <a:schemeClr val="accent1"/>
                </a:solidFill>
                <a:latin typeface="AllerMod Regular" charset="0"/>
                <a:ea typeface="ＭＳ Ｐゴシック" charset="0"/>
              </a:defRPr>
            </a:lvl9pPr>
          </a:lstStyle>
          <a:p>
            <a:r>
              <a:rPr lang="en-IN" dirty="0"/>
              <a:t>Phase 2 - DevOps AI Training Materials (Self learning)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63509E-E384-2BEB-F383-8630ACE24240}"/>
              </a:ext>
            </a:extLst>
          </p:cNvPr>
          <p:cNvSpPr txBox="1"/>
          <p:nvPr/>
        </p:nvSpPr>
        <p:spPr>
          <a:xfrm>
            <a:off x="457197" y="4685928"/>
            <a:ext cx="11277601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IN" dirty="0"/>
              <a:t>ALM (AQM) Aviator Recorded Training -  </a:t>
            </a:r>
            <a:r>
              <a:rPr lang="en-IN" dirty="0">
                <a:hlinkClick r:id="rId8"/>
              </a:rPr>
              <a:t>OpenText™ Core Share</a:t>
            </a:r>
            <a:endParaRPr lang="en-IN" dirty="0"/>
          </a:p>
          <a:p>
            <a:r>
              <a:rPr lang="en-IN" dirty="0" err="1"/>
              <a:t>ValueEdge</a:t>
            </a:r>
            <a:r>
              <a:rPr lang="en-IN" dirty="0"/>
              <a:t> 101: Adding Aviator AI – </a:t>
            </a:r>
            <a:r>
              <a:rPr lang="en-IN" dirty="0">
                <a:hlinkClick r:id="rId9"/>
              </a:rPr>
              <a:t>Talent Central - Learning</a:t>
            </a:r>
            <a:endParaRPr lang="en-IN" dirty="0"/>
          </a:p>
          <a:p>
            <a:pPr algn="l"/>
            <a:r>
              <a:rPr lang="en-IN" dirty="0"/>
              <a:t>More courses to be added later.</a:t>
            </a:r>
          </a:p>
        </p:txBody>
      </p:sp>
    </p:spTree>
    <p:extLst>
      <p:ext uri="{BB962C8B-B14F-4D97-AF65-F5344CB8AC3E}">
        <p14:creationId xmlns:p14="http://schemas.microsoft.com/office/powerpoint/2010/main" val="2679531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304F-5C2F-9492-77C0-5904A0B1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FD12B-6EF4-1AE5-2C6E-DDCB10859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3824080"/>
            <a:ext cx="9258300" cy="443120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Advanced AI enablement – Generative AI for Developers</a:t>
            </a:r>
          </a:p>
        </p:txBody>
      </p:sp>
    </p:spTree>
    <p:extLst>
      <p:ext uri="{BB962C8B-B14F-4D97-AF65-F5344CB8AC3E}">
        <p14:creationId xmlns:p14="http://schemas.microsoft.com/office/powerpoint/2010/main" val="620162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93E5A-1DF4-63C0-CE8A-A95A3B113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7911-D989-737C-02E7-8DE7ACDE9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96453"/>
            <a:ext cx="10972800" cy="609600"/>
          </a:xfrm>
        </p:spPr>
        <p:txBody>
          <a:bodyPr/>
          <a:lstStyle/>
          <a:p>
            <a:r>
              <a:rPr lang="en-IN" dirty="0"/>
              <a:t>Phase 3 - Generative AI for Developers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0CB146-86AE-5E39-D578-36847702EB3A}"/>
              </a:ext>
            </a:extLst>
          </p:cNvPr>
          <p:cNvSpPr txBox="1"/>
          <p:nvPr/>
        </p:nvSpPr>
        <p:spPr>
          <a:xfrm>
            <a:off x="555585" y="779411"/>
            <a:ext cx="11435787" cy="55861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>
                <a:hlinkClick r:id="rId2"/>
              </a:rPr>
              <a:t>Intermediate level Courses -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hlinkClick r:id="rId3"/>
              </a:rPr>
              <a:t>Building Gen AI Apps with Vertex AI: Prompting and Tuning </a:t>
            </a:r>
            <a:r>
              <a:rPr lang="en-US" b="0" i="0" dirty="0">
                <a:solidFill>
                  <a:srgbClr val="1F1F1F"/>
                </a:solidFill>
                <a:effectLst/>
                <a:hlinkClick r:id="rId2"/>
              </a:rPr>
              <a:t>–</a:t>
            </a:r>
            <a:r>
              <a:rPr lang="en-US" b="0" i="0" dirty="0">
                <a:solidFill>
                  <a:srgbClr val="1F1F1F"/>
                </a:solidFill>
                <a:effectLst/>
              </a:rPr>
              <a:t> Appx 13 </a:t>
            </a:r>
            <a:r>
              <a:rPr lang="en-US" b="0" i="0" dirty="0" err="1">
                <a:solidFill>
                  <a:srgbClr val="1F1F1F"/>
                </a:solidFill>
                <a:effectLst/>
              </a:rPr>
              <a:t>Hrs</a:t>
            </a:r>
            <a:endParaRPr lang="it-IT" dirty="0">
              <a:hlinkClick r:id="rId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>
                <a:hlinkClick r:id="rId2"/>
              </a:rPr>
              <a:t>Explore Generative AI with the Vertex AI Gemini API</a:t>
            </a:r>
            <a:r>
              <a:rPr lang="en-IN" dirty="0"/>
              <a:t> – Appx 5 Hrs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hlinkClick r:id="rId4"/>
              </a:rPr>
              <a:t>Vector Search and Embeddings</a:t>
            </a:r>
            <a:r>
              <a:rPr lang="en-IN" dirty="0"/>
              <a:t> – 2 Hrs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hlinkClick r:id="rId5"/>
              </a:rPr>
              <a:t>Inspect Rich Documents with Gemini Multimodality and Multimodal RAG –</a:t>
            </a:r>
            <a:r>
              <a:rPr lang="en-IN" dirty="0"/>
              <a:t> 5 Hrs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hlinkClick r:id="rId6"/>
              </a:rPr>
              <a:t>Integrate Vertex AI Search and Conversation into Voice and Chat Apps</a:t>
            </a:r>
            <a:r>
              <a:rPr lang="en-IN" dirty="0"/>
              <a:t> – 5 Hrs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hlinkClick r:id="rId7"/>
              </a:rPr>
              <a:t>Orchestrate LLM solutions with </a:t>
            </a:r>
            <a:r>
              <a:rPr lang="en-IN" dirty="0" err="1">
                <a:hlinkClick r:id="rId7"/>
              </a:rPr>
              <a:t>LangChain</a:t>
            </a:r>
            <a:r>
              <a:rPr lang="en-IN" dirty="0"/>
              <a:t> – 4 Hrs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8"/>
              </a:rPr>
              <a:t>Build Generative AI Apps with Firebase </a:t>
            </a:r>
            <a:r>
              <a:rPr lang="en-US" dirty="0" err="1">
                <a:hlinkClick r:id="rId8"/>
              </a:rPr>
              <a:t>Genkit</a:t>
            </a:r>
            <a:r>
              <a:rPr lang="en-US" dirty="0"/>
              <a:t> – 6 </a:t>
            </a:r>
            <a:r>
              <a:rPr lang="en-US" dirty="0" err="1"/>
              <a:t>Hrs</a:t>
            </a:r>
            <a:endParaRPr lang="en-IN" dirty="0"/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lang="en-IN" dirty="0"/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IN" dirty="0"/>
              <a:t>Advanced  Courses (On individual interest basis)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Empower Gen AI apps with tool use – 6 </a:t>
            </a:r>
            <a:r>
              <a:rPr lang="en-US" dirty="0" err="1"/>
              <a:t>Hrs</a:t>
            </a:r>
            <a:endParaRPr lang="en-US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Integrate Generative AI Into Your Apps with Firebase </a:t>
            </a:r>
            <a:r>
              <a:rPr lang="en-US" dirty="0" err="1"/>
              <a:t>Genkit</a:t>
            </a:r>
            <a:r>
              <a:rPr lang="en-US" dirty="0"/>
              <a:t> – 6 </a:t>
            </a:r>
            <a:r>
              <a:rPr lang="en-US" dirty="0" err="1"/>
              <a:t>Hrs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Develop Advanced Enterprise Search and Conversation Applications – 8 Hrs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Deploy, Test &amp; Evaluate Gen AI Apps – 6 Hrs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Orchestrating Gen AI Applications with </a:t>
            </a:r>
            <a:r>
              <a:rPr lang="en-IN" dirty="0" err="1"/>
              <a:t>LangChain</a:t>
            </a:r>
            <a:r>
              <a:rPr lang="en-IN" dirty="0"/>
              <a:t> – 9 Hrs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Custom Search with Embeddings in Vertex AI – 8 Hrs</a:t>
            </a:r>
          </a:p>
        </p:txBody>
      </p:sp>
    </p:spTree>
    <p:extLst>
      <p:ext uri="{BB962C8B-B14F-4D97-AF65-F5344CB8AC3E}">
        <p14:creationId xmlns:p14="http://schemas.microsoft.com/office/powerpoint/2010/main" val="1526758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909961"/>
      </p:ext>
    </p:extLst>
  </p:cSld>
  <p:clrMapOvr>
    <a:masterClrMapping/>
  </p:clrMapOvr>
</p:sld>
</file>

<file path=ppt/theme/theme1.xml><?xml version="1.0" encoding="utf-8"?>
<a:theme xmlns:a="http://schemas.openxmlformats.org/drawingml/2006/main" name="OT 2025">
  <a:themeElements>
    <a:clrScheme name="OT 2025">
      <a:dk1>
        <a:srgbClr val="FFFFFF"/>
      </a:dk1>
      <a:lt1>
        <a:srgbClr val="000000"/>
      </a:lt1>
      <a:dk2>
        <a:srgbClr val="E7E9EC"/>
      </a:dk2>
      <a:lt2>
        <a:srgbClr val="373848"/>
      </a:lt2>
      <a:accent1>
        <a:srgbClr val="00008A"/>
      </a:accent1>
      <a:accent2>
        <a:srgbClr val="1968FF"/>
      </a:accent2>
      <a:accent3>
        <a:srgbClr val="66677B"/>
      </a:accent3>
      <a:accent4>
        <a:srgbClr val="E7E9EC"/>
      </a:accent4>
      <a:accent5>
        <a:srgbClr val="E1BB35"/>
      </a:accent5>
      <a:accent6>
        <a:srgbClr val="001C50"/>
      </a:accent6>
      <a:hlink>
        <a:srgbClr val="1968FF"/>
      </a:hlink>
      <a:folHlink>
        <a:srgbClr val="1968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T 2025" id="{0CD5DBB2-B7A5-BB4E-A465-BC5C98A868B4}" vid="{653F2B3D-41C9-4046-8B4E-4AA01DD3BC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72FAF51-7DC7-AF4B-A23E-98A7A28E65B5}">
  <we:reference id="wa104380862" version="3.0.0.0" store="en-US" storeType="OMEX"/>
  <we:alternateReferences>
    <we:reference id="wa104380862" version="3.0.0.0" store="WA10438086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3234</TotalTime>
  <Words>1681</Words>
  <Application>Microsoft Office PowerPoint</Application>
  <PresentationFormat>Widescreen</PresentationFormat>
  <Paragraphs>206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inherit</vt:lpstr>
      <vt:lpstr>Inter</vt:lpstr>
      <vt:lpstr>OpenText Sans</vt:lpstr>
      <vt:lpstr>Wingdings</vt:lpstr>
      <vt:lpstr>OT 2025</vt:lpstr>
      <vt:lpstr>PowerPoint Presentation</vt:lpstr>
      <vt:lpstr>AI Enablement Initiative</vt:lpstr>
      <vt:lpstr>Enablement Strategy</vt:lpstr>
      <vt:lpstr>Phase 1</vt:lpstr>
      <vt:lpstr>Phase 1 - General / Common Enablement</vt:lpstr>
      <vt:lpstr>Phase 1 - Execution Plan Sample (Using Google learning portal)</vt:lpstr>
      <vt:lpstr>Phase 1 – Additional Material (Internal)</vt:lpstr>
      <vt:lpstr>Phase 1 – Additional Material (External)</vt:lpstr>
      <vt:lpstr>Phase 2</vt:lpstr>
      <vt:lpstr>Phase 2 - Domain Specific Enablement</vt:lpstr>
      <vt:lpstr>Phase 2 - SMAX Aviator Classroom Training Topics</vt:lpstr>
      <vt:lpstr>Phase 2 - Cybersecurity AI Training Topics (Self learning) – Machine Learning</vt:lpstr>
      <vt:lpstr>Phase 3</vt:lpstr>
      <vt:lpstr>Phase 3 - Generative AI for Developers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Bhuvnesh Kumar Sharma</cp:lastModifiedBy>
  <cp:revision>83</cp:revision>
  <dcterms:created xsi:type="dcterms:W3CDTF">2024-02-27T11:50:23Z</dcterms:created>
  <dcterms:modified xsi:type="dcterms:W3CDTF">2025-09-02T09:40:14Z</dcterms:modified>
</cp:coreProperties>
</file>